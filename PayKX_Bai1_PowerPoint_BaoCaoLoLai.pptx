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59d79dd3-ce0f-2630-96ef-d64e2ccef07c}">
          <p14:sldIdLst>
            <p14:sldId id="256"/>
          </p14:sldIdLst>
        </p14:section>
        <p14:section name="Kết quả" id="{7463be32-b399-0721-3edd-5e810f0326a0}">
          <p14:sldIdLst>
            <p14:sldId id="257"/>
            <p14:sldId id="258"/>
          </p14:sldIdLst>
        </p14:section>
        <p14:section name="Chi phí" id="{6e5546a9-ed08-b0aa-d3f2-83042e1f4c0e}">
          <p14:sldIdLst>
            <p14:sldId id="259"/>
            <p14:sldId id="260"/>
          </p14:sldIdLst>
        </p14:section>
        <p14:section name="Kết luận" id="{a85bb551-2c08-719c-a2a8-52310dc93634}">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Doanh thu thuần</c:v>
                </c:pt>
              </c:strCache>
            </c:strRef>
          </c:tx>
          <c:spPr>
            <a:solidFill>
              <a:srgbClr val="B9BDD6"/>
            </a:solidFill>
            <a:effectLst/>
          </c:spPr>
          <c:invertIfNegative val="0"/>
          <c:dLbls>
            <c:numFmt formatCode="0.00" sourceLinked="0"/>
            <c:txPr>
              <a:bodyPr/>
              <a:lstStyle/>
              <a:p>
                <a:pPr>
                  <a:defRPr b="0" i="0" strike="noStrike" sz="3000" u="none">
                    <a:solidFill>
                      <a:srgbClr val="222222"/>
                    </a:solidFill>
                    <a:latin typeface="+mn-lt"/>
                  </a:defRPr>
                </a:pPr>
              </a:p>
            </c:txPr>
            <c:showLegendKey val="0"/>
            <c:showVal val="1"/>
            <c:showCatName val="0"/>
            <c:showSerName val="0"/>
            <c:showPercent val="0"/>
            <c:showBubbleSize val="0"/>
            <c:showLeaderLines val="0"/>
          </c:dLbls>
          <c:dPt>
            <c:idx val="0"/>
            <c:invertIfNegative val="0"/>
            <c:bubble3D val="0"/>
            <c:spPr>
              <a:solidFill>
                <a:srgbClr val="B9BDD6"/>
              </a:solidFill>
              <a:effectLst/>
            </c:spPr>
          </c:dPt>
          <c:dPt>
            <c:idx val="1"/>
            <c:invertIfNegative val="0"/>
            <c:bubble3D val="0"/>
            <c:spPr>
              <a:solidFill>
                <a:srgbClr val="B9BDD6"/>
              </a:solidFill>
              <a:effectLst/>
            </c:spPr>
          </c:dPt>
          <c:dPt>
            <c:idx val="2"/>
            <c:invertIfNegative val="0"/>
            <c:bubble3D val="0"/>
            <c:spPr>
              <a:solidFill>
                <a:srgbClr val="B9BDD6"/>
              </a:solidFill>
              <a:effectLst/>
            </c:spPr>
          </c:dPt>
          <c:dPt>
            <c:idx val="3"/>
            <c:invertIfNegative val="0"/>
            <c:bubble3D val="0"/>
            <c:spPr>
              <a:solidFill>
                <a:srgbClr val="B9BDD6"/>
              </a:solidFill>
              <a:effectLst/>
            </c:spPr>
          </c:dPt>
          <c:dPt>
            <c:idx val="4"/>
            <c:invertIfNegative val="0"/>
            <c:bubble3D val="0"/>
            <c:spPr>
              <a:solidFill>
                <a:srgbClr val="F28C28"/>
              </a:solidFill>
              <a:effectLst/>
            </c:spPr>
          </c:dPt>
          <c:cat>
            <c:multiLvlStrRef>
              <c:f>Sheet1!$A$2:$A$6</c:f>
              <c:multiLvlStrCache>
                <c:ptCount val="5"/>
                <c:lvl>
                  <c:pt idx="0">
                    <c:v>T01</c:v>
                  </c:pt>
                  <c:pt idx="1">
                    <c:v>T02</c:v>
                  </c:pt>
                  <c:pt idx="2">
                    <c:v>T03</c:v>
                  </c:pt>
                  <c:pt idx="3">
                    <c:v>T04</c:v>
                  </c:pt>
                  <c:pt idx="4">
                    <c:v>T05</c:v>
                  </c:pt>
                </c:lvl>
              </c:multiLvlStrCache>
            </c:multiLvlStrRef>
          </c:cat>
          <c:val>
            <c:numRef>
              <c:f>Sheet1!$B$2:$B$6</c:f>
              <c:numCache>
                <c:formatCode>General</c:formatCode>
                <c:ptCount val="5"/>
                <c:pt idx="0">
                  <c:v>7.28</c:v>
                </c:pt>
                <c:pt idx="1">
                  <c:v>8.01</c:v>
                </c:pt>
                <c:pt idx="2">
                  <c:v>9.36</c:v>
                </c:pt>
                <c:pt idx="3">
                  <c:v>10.5</c:v>
                </c:pt>
                <c:pt idx="4">
                  <c:v>12.45</c:v>
                </c:pt>
              </c:numCache>
            </c:numRef>
          </c:val>
        </c:ser>
        <c:dLbls>
          <c:numFmt formatCode="0.00" sourceLinked="0"/>
          <c:txPr>
            <a:bodyPr/>
            <a:lstStyle/>
            <a:p>
              <a:pPr>
                <a:defRPr b="0" i="0" strike="noStrike" sz="3000" u="none">
                  <a:solidFill>
                    <a:srgbClr val="222222"/>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3000" b="0" i="0" u="none" strike="noStrike">
                <a:solidFill>
                  <a:srgbClr val="222222"/>
                </a:solidFill>
                <a:latin typeface="+mn-lt"/>
              </a:defRPr>
            </a:pPr>
            <a:endParaRPr lang="en-US"/>
          </a:p>
        </c:txPr>
        <c:crossAx val="2094734552"/>
        <c:crosses val="autoZero"/>
        <c:auto val="1"/>
        <c:lblAlgn val="ctr"/>
        <c:noMultiLvlLbl val="1"/>
      </c:catAx>
      <c:valAx>
        <c:axId val="2094734552"/>
        <c:scaling>
          <c:orientation val="minMax"/>
          <c:max val="1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3000" b="0" i="0" u="none" strike="noStrike">
                <a:solidFill>
                  <a:srgbClr val="22222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Tháng 4</c:v>
                </c:pt>
              </c:strCache>
            </c:strRef>
          </c:tx>
          <c:spPr>
            <a:solidFill>
              <a:srgbClr val="B9BDD6"/>
            </a:solidFill>
            <a:effectLst/>
          </c:spPr>
          <c:invertIfNegative val="0"/>
          <c:dLbls>
            <c:numFmt formatCode="0.00" sourceLinked="0"/>
            <c:txPr>
              <a:bodyPr/>
              <a:lstStyle/>
              <a:p>
                <a:pPr>
                  <a:defRPr b="0" i="0" strike="noStrike" sz="3000" u="none">
                    <a:solidFill>
                      <a:srgbClr val="222222"/>
                    </a:solidFill>
                    <a:latin typeface="+mn-lt"/>
                  </a:defRPr>
                </a:pPr>
              </a:p>
            </c:txPr>
            <c:showLegendKey val="0"/>
            <c:showVal val="1"/>
            <c:showCatName val="0"/>
            <c:showSerName val="0"/>
            <c:showPercent val="0"/>
            <c:showBubbleSize val="0"/>
            <c:showLeaderLines val="0"/>
          </c:dLbls>
          <c:cat>
            <c:multiLvlStrRef>
              <c:f>Sheet1!$A$2:$A$4</c:f>
              <c:multiLvlStrCache>
                <c:ptCount val="3"/>
                <c:lvl>
                  <c:pt idx="0">
                    <c:v>Doanh thu</c:v>
                  </c:pt>
                  <c:pt idx="1">
                    <c:v>Chi phí</c:v>
                  </c:pt>
                  <c:pt idx="2">
                    <c:v>Lãi gộp</c:v>
                  </c:pt>
                </c:lvl>
              </c:multiLvlStrCache>
            </c:multiLvlStrRef>
          </c:cat>
          <c:val>
            <c:numRef>
              <c:f>Sheet1!$B$2:$B$4</c:f>
              <c:numCache>
                <c:formatCode>General</c:formatCode>
                <c:ptCount val="3"/>
                <c:pt idx="0">
                  <c:v>10.5</c:v>
                </c:pt>
                <c:pt idx="1">
                  <c:v>6.5</c:v>
                </c:pt>
                <c:pt idx="2">
                  <c:v>4</c:v>
                </c:pt>
              </c:numCache>
            </c:numRef>
          </c:val>
        </c:ser>
        <c:ser>
          <c:idx val="1"/>
          <c:order val="1"/>
          <c:tx>
            <c:strRef>
              <c:f>Sheet1!$C$1</c:f>
              <c:strCache>
                <c:ptCount val="1"/>
                <c:pt idx="0">
                  <c:v>Tháng 5</c:v>
                </c:pt>
              </c:strCache>
            </c:strRef>
          </c:tx>
          <c:spPr>
            <a:solidFill>
              <a:srgbClr val="5B3FD0"/>
            </a:solidFill>
            <a:effectLst/>
          </c:spPr>
          <c:invertIfNegative val="0"/>
          <c:dLbls>
            <c:numFmt formatCode="0.00" sourceLinked="0"/>
            <c:txPr>
              <a:bodyPr/>
              <a:lstStyle/>
              <a:p>
                <a:pPr>
                  <a:defRPr b="0" i="0" strike="noStrike" sz="3000" u="none">
                    <a:solidFill>
                      <a:srgbClr val="222222"/>
                    </a:solidFill>
                    <a:latin typeface="+mn-lt"/>
                  </a:defRPr>
                </a:pPr>
              </a:p>
            </c:txPr>
            <c:showLegendKey val="0"/>
            <c:showVal val="1"/>
            <c:showCatName val="0"/>
            <c:showSerName val="0"/>
            <c:showPercent val="0"/>
            <c:showBubbleSize val="0"/>
            <c:showLeaderLines val="0"/>
          </c:dLbls>
          <c:cat>
            <c:multiLvlStrRef>
              <c:f>Sheet1!$A$2:$A$4</c:f>
              <c:multiLvlStrCache>
                <c:ptCount val="3"/>
                <c:lvl>
                  <c:pt idx="0">
                    <c:v>Doanh thu</c:v>
                  </c:pt>
                  <c:pt idx="1">
                    <c:v>Chi phí</c:v>
                  </c:pt>
                  <c:pt idx="2">
                    <c:v>Lãi gộp</c:v>
                  </c:pt>
                </c:lvl>
              </c:multiLvlStrCache>
            </c:multiLvlStrRef>
          </c:cat>
          <c:val>
            <c:numRef>
              <c:f>Sheet1!$C$2:$C$4</c:f>
              <c:numCache>
                <c:formatCode>General</c:formatCode>
                <c:ptCount val="3"/>
                <c:pt idx="0">
                  <c:v>12.45</c:v>
                </c:pt>
                <c:pt idx="1">
                  <c:v>7.28</c:v>
                </c:pt>
                <c:pt idx="2">
                  <c:v>5.17</c:v>
                </c:pt>
              </c:numCache>
            </c:numRef>
          </c:val>
        </c:ser>
        <c:dLbls>
          <c:numFmt formatCode="0.00" sourceLinked="0"/>
          <c:txPr>
            <a:bodyPr/>
            <a:lstStyle/>
            <a:p>
              <a:pPr>
                <a:defRPr b="0" i="0" strike="noStrike" sz="3000" u="none">
                  <a:solidFill>
                    <a:srgbClr val="222222"/>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3000" b="0" i="0" u="none" strike="noStrike">
                <a:solidFill>
                  <a:srgbClr val="222222"/>
                </a:solidFill>
                <a:latin typeface="+mn-lt"/>
              </a:defRPr>
            </a:pPr>
            <a:endParaRPr lang="en-US"/>
          </a:p>
        </c:txPr>
        <c:crossAx val="2094734552"/>
        <c:crosses val="autoZero"/>
        <c:auto val="1"/>
        <c:lblAlgn val="ctr"/>
        <c:noMultiLvlLbl val="1"/>
      </c:catAx>
      <c:valAx>
        <c:axId val="2094734552"/>
        <c:scaling>
          <c:orientation val="minMax"/>
          <c:max val="1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3000" b="0" i="0" u="none" strike="noStrike">
                <a:solidFill>
                  <a:srgbClr val="22222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3000">
              <a:solidFill>
                <a:srgbClr val="22222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Cơ cấu chi phí</c:v>
                </c:pt>
              </c:strCache>
            </c:strRef>
          </c:tx>
          <c:spPr>
            <a:solidFill>
              <a:schemeClr val="accent1"/>
            </a:solidFill>
            <a:ln w="9525" cap="flat">
              <a:solidFill>
                <a:srgbClr val="F9F9F9"/>
              </a:solidFill>
              <a:prstDash val="solid"/>
              <a:round/>
            </a:ln>
            <a:effectLst/>
          </c:spPr>
          <c:dPt>
            <c:idx val="0"/>
            <c:bubble3D val="0"/>
            <c:spPr>
              <a:solidFill>
                <a:srgbClr val="5B3FD0"/>
              </a:solidFill>
              <a:effectLst/>
            </c:spPr>
          </c:dPt>
          <c:dPt>
            <c:idx val="1"/>
            <c:bubble3D val="0"/>
            <c:spPr>
              <a:solidFill>
                <a:srgbClr val="F28C28"/>
              </a:solidFill>
              <a:effectLst/>
            </c:spPr>
          </c:dPt>
          <c:dPt>
            <c:idx val="2"/>
            <c:bubble3D val="0"/>
            <c:spPr>
              <a:solidFill>
                <a:srgbClr val="8A8FA8"/>
              </a:solidFill>
              <a:effectLst/>
            </c:spPr>
          </c:dPt>
          <c:dLbls>
            <c:dLbl>
              <c:idx val="0"/>
              <c:numFmt formatCode="0%" sourceLinked="0"/>
              <c:spPr/>
              <c:txPr>
                <a:bodyPr/>
                <a:lstStyle/>
                <a:p>
                  <a:pPr>
                    <a:defRPr sz="30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3000" b="0"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30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Vận hành</c:v>
                </c:pt>
                <c:pt idx="1">
                  <c:v>Marketing &amp; hoàn tiền</c:v>
                </c:pt>
                <c:pt idx="2">
                  <c:v>Nhân sự &amp; khác</c:v>
                </c:pt>
              </c:strCache>
            </c:strRef>
          </c:cat>
          <c:val>
            <c:numRef>
              <c:f>Sheet1!$B$2:$B$4</c:f>
              <c:numCache>
                <c:ptCount val="3"/>
                <c:pt idx="0">
                  <c:v>3.5</c:v>
                </c:pt>
                <c:pt idx="1">
                  <c:v>2.6</c:v>
                </c:pt>
                <c:pt idx="2">
                  <c:v>1.18</c:v>
                </c:pt>
              </c:numCache>
            </c:numRef>
          </c:val>
        </c:ser>
        <c:firstSliceAng val="0"/>
      </c:pieChart>
      <c:spPr>
        <a:noFill/>
        <a:ln>
          <a:noFill/>
        </a:ln>
        <a:effectLst/>
      </c:spPr>
    </c:plotArea>
    <c:legend>
      <c:legendPos val="r"/>
      <c:overlay val="0"/>
      <c:txPr>
        <a:bodyPr/>
        <a:lstStyle/>
        <a:p>
          <a:pPr>
            <a:defRPr sz="3000">
              <a:solidFill>
                <a:srgbClr val="22222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Tổng phí</c:v>
                </c:pt>
              </c:strCache>
            </c:strRef>
          </c:tx>
          <c:spPr>
            <a:solidFill>
              <a:srgbClr val="B9BDD6"/>
            </a:solidFill>
            <a:effectLst/>
          </c:spPr>
          <c:invertIfNegative val="0"/>
          <c:dLbls>
            <c:numFmt formatCode="0.0" sourceLinked="0"/>
            <c:txPr>
              <a:bodyPr/>
              <a:lstStyle/>
              <a:p>
                <a:pPr>
                  <a:defRPr b="0" i="0" strike="noStrike" sz="3000" u="none">
                    <a:solidFill>
                      <a:srgbClr val="222222"/>
                    </a:solidFill>
                    <a:latin typeface="+mn-lt"/>
                  </a:defRPr>
                </a:pPr>
              </a:p>
            </c:txPr>
            <c:showLegendKey val="0"/>
            <c:showVal val="1"/>
            <c:showCatName val="0"/>
            <c:showSerName val="0"/>
            <c:showPercent val="0"/>
            <c:showBubbleSize val="0"/>
            <c:showLeaderLines val="0"/>
          </c:dLbls>
          <c:dPt>
            <c:idx val="0"/>
            <c:invertIfNegative val="0"/>
            <c:bubble3D val="0"/>
            <c:spPr>
              <a:solidFill>
                <a:srgbClr val="B9BDD6"/>
              </a:solidFill>
              <a:effectLst/>
            </c:spPr>
          </c:dPt>
          <c:dPt>
            <c:idx val="1"/>
            <c:invertIfNegative val="0"/>
            <c:bubble3D val="0"/>
            <c:spPr>
              <a:solidFill>
                <a:srgbClr val="B9BDD6"/>
              </a:solidFill>
              <a:effectLst/>
            </c:spPr>
          </c:dPt>
          <c:dPt>
            <c:idx val="2"/>
            <c:invertIfNegative val="0"/>
            <c:bubble3D val="0"/>
            <c:spPr>
              <a:solidFill>
                <a:srgbClr val="B9BDD6"/>
              </a:solidFill>
              <a:effectLst/>
            </c:spPr>
          </c:dPt>
          <c:dPt>
            <c:idx val="3"/>
            <c:invertIfNegative val="0"/>
            <c:bubble3D val="0"/>
            <c:spPr>
              <a:solidFill>
                <a:srgbClr val="B9BDD6"/>
              </a:solidFill>
              <a:effectLst/>
            </c:spPr>
          </c:dPt>
          <c:dPt>
            <c:idx val="4"/>
            <c:invertIfNegative val="0"/>
            <c:bubble3D val="0"/>
            <c:spPr>
              <a:solidFill>
                <a:srgbClr val="5B3FD0"/>
              </a:solidFill>
              <a:effectLst/>
            </c:spPr>
          </c:dPt>
          <c:cat>
            <c:multiLvlStrRef>
              <c:f>Sheet1!$A$2:$A$6</c:f>
              <c:multiLvlStrCache>
                <c:ptCount val="5"/>
                <c:lvl>
                  <c:pt idx="0">
                    <c:v>MB Bank</c:v>
                  </c:pt>
                  <c:pt idx="1">
                    <c:v>Techcombank</c:v>
                  </c:pt>
                  <c:pt idx="2">
                    <c:v>VietinBank</c:v>
                  </c:pt>
                  <c:pt idx="3">
                    <c:v>BIDV</c:v>
                  </c:pt>
                  <c:pt idx="4">
                    <c:v>Vietcombank</c:v>
                  </c:pt>
                </c:lvl>
              </c:multiLvlStrCache>
            </c:multiLvlStrRef>
          </c:cat>
          <c:val>
            <c:numRef>
              <c:f>Sheet1!$B$2:$B$6</c:f>
              <c:numCache>
                <c:formatCode>General</c:formatCode>
                <c:ptCount val="5"/>
                <c:pt idx="0">
                  <c:v>10.61</c:v>
                </c:pt>
                <c:pt idx="1">
                  <c:v>10.87</c:v>
                </c:pt>
                <c:pt idx="2">
                  <c:v>12.78</c:v>
                </c:pt>
                <c:pt idx="3">
                  <c:v>15.6</c:v>
                </c:pt>
                <c:pt idx="4">
                  <c:v>21.29</c:v>
                </c:pt>
              </c:numCache>
            </c:numRef>
          </c:val>
        </c:ser>
        <c:dLbls>
          <c:numFmt formatCode="0.0" sourceLinked="0"/>
          <c:txPr>
            <a:bodyPr/>
            <a:lstStyle/>
            <a:p>
              <a:pPr>
                <a:defRPr b="0" i="0" strike="noStrike" sz="3000" u="none">
                  <a:solidFill>
                    <a:srgbClr val="222222"/>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3000" b="0" i="0" u="none" strike="noStrike">
                <a:solidFill>
                  <a:srgbClr val="222222"/>
                </a:solidFill>
                <a:latin typeface="+mn-lt"/>
              </a:defRPr>
            </a:pPr>
            <a:endParaRPr lang="en-US"/>
          </a:p>
        </c:txPr>
        <c:crossAx val="2094734552"/>
        <c:crosses val="autoZero"/>
        <c:auto val="1"/>
        <c:lblAlgn val="ctr"/>
        <c:noMultiLvlLbl val="1"/>
      </c:catAx>
      <c:valAx>
        <c:axId val="2094734552"/>
        <c:scaling>
          <c:orientation val="minMax"/>
          <c:max val="2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3000" b="0" i="0" u="none" strike="noStrike">
                <a:solidFill>
                  <a:srgbClr val="22222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thầy/cô và các bạn. Em xin trình bày báo cáo lỗ lãi của ví điện tử PayKX trong tháng 05/2024. Bài gồm 6 slide, mỗi slide chỉ nói một ý chính.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Doanh thu thuần tháng 5 đạt 12,45 tỷ, tăng 18,6% so với tháng 4 (10,50 tỷ). Nguyên nhân chính là chương trình ưu đãi nạp điện thoại cho sinh viên. Cột cam là tháng đang báo cáo.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Doanh thu tăng 18,6% nhưng chi phí chỉ tăng 12% (từ 6,50 lên 7,28 tỷ). Nhờ vậy lãi gộp tăng từ 4,00 lên 5,17 tỷ.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chi phí tháng 5 là 7,28 tỷ: vận hành 3,50 tỷ (48%), marketing và hoàn tiền 2,60 tỷ (36%), nhân sự và các khoản khác 1,18 tỷ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phí trả cho 10 ngân hàng đối tác là khoảng 103,3 triệu đồng (xem file Excel). Vietcombank cao nhất với 21,29 triệu vì doanh số qua ngân hàng này lớn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doanh thu 12,45 tỷ, chi phí 7,28 tỷ, lãi gộp 5,17 tỷ. Em đề xuất tiếp tục ưu đãi nạp điện thoại và đàm phán lại mức phí với các ngân hàng có doanh số lớn. Em xin cảm ơn thầy/cô và các bạn đã lắng nghe.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EU_DE">
    <p:bg>
      <p:bgPr>
        <a:solidFill>
          <a:srgbClr val="1F2A5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2011680"/>
          </a:xfrm>
          <a:prstGeom prst="rect">
            <a:avLst/>
          </a:prstGeom>
          <a:noFill/>
          <a:ln/>
        </p:spPr>
        <p:txBody>
          <a:bodyPr wrap="square" rtlCol="0"/>
          <a:lstStyle>
            <a:lvl1pPr algn="l" indent="0" marL="0">
              <a:buNone/>
              <a:defRPr lang="en-US" sz="4800" b="1" dirty="0">
                <a:solidFill>
                  <a:srgbClr val="FFFFFF"/>
                </a:solidFill>
              </a:defRPr>
            </a:lvl1pPr>
          </a:lstStyle>
          <a:p>
            <a:pPr algn="l" indent="0" marL="0">
              <a:buNone/>
            </a:pPr>
            <a:endParaRPr lang="en-US" sz="4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OI_DUNG">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37160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2011680"/>
          </a:xfrm>
          <a:prstGeom prst="rect">
            <a:avLst/>
          </a:prstGeom>
          <a:noFill/>
          <a:ln/>
        </p:spPr>
        <p:txBody>
          <a:bodyPr wrap="square" lIns="0" tIns="0" rIns="0" bIns="0" rtlCol="0" anchor="ctr"/>
          <a:lstStyle/>
          <a:p>
            <a:pPr algn="l" indent="0" marL="0">
              <a:buNone/>
            </a:pPr>
            <a:r>
              <a:rPr lang="en-US" sz="4800" b="1" dirty="0">
                <a:solidFill>
                  <a:srgbClr val="FFFFFF"/>
                </a:solidFill>
              </a:rPr>
              <a:t>BÁO CÁO LỖ LÃI PAYKX THÁNG 05/2024</a:t>
            </a:r>
            <a:endParaRPr lang="en-US" sz="4800" dirty="0"/>
          </a:p>
        </p:txBody>
      </p:sp>
      <p:sp>
        <p:nvSpPr>
          <p:cNvPr id="3" name="Phu de"/>
          <p:cNvSpPr txBox="1"/>
          <p:nvPr/>
        </p:nvSpPr>
        <p:spPr>
          <a:xfrm>
            <a:off x="731520" y="3931920"/>
            <a:ext cx="10698480" cy="640080"/>
          </a:xfrm>
          <a:prstGeom prst="rect">
            <a:avLst/>
          </a:prstGeom>
          <a:noFill/>
          <a:ln/>
        </p:spPr>
        <p:txBody>
          <a:bodyPr wrap="square" lIns="0" tIns="0" rIns="0" bIns="0" rtlCol="0" anchor="ctr"/>
          <a:lstStyle/>
          <a:p>
            <a:pPr indent="0" marL="0">
              <a:buNone/>
            </a:pPr>
            <a:r>
              <a:rPr lang="en-US" sz="3200" dirty="0">
                <a:solidFill>
                  <a:srgbClr val="CFC8F5"/>
                </a:solidFill>
              </a:rPr>
              <a:t>Ví điện tử dành cho sinh viên</a:t>
            </a:r>
            <a:endParaRPr lang="en-US" sz="3200" dirty="0"/>
          </a:p>
        </p:txBody>
      </p:sp>
      <p:sp>
        <p:nvSpPr>
          <p:cNvPr id="4" name="Nguoi trinh bay"/>
          <p:cNvSpPr txBox="1"/>
          <p:nvPr/>
        </p:nvSpPr>
        <p:spPr>
          <a:xfrm>
            <a:off x="731520" y="4937760"/>
            <a:ext cx="10698480" cy="640080"/>
          </a:xfrm>
          <a:prstGeom prst="rect">
            <a:avLst/>
          </a:prstGeom>
          <a:noFill/>
          <a:ln/>
        </p:spPr>
        <p:txBody>
          <a:bodyPr wrap="square" lIns="0" tIns="0" rIns="0" bIns="0" rtlCol="0" anchor="ctr"/>
          <a:lstStyle/>
          <a:p>
            <a:pPr indent="0" marL="0">
              <a:buNone/>
            </a:pPr>
            <a:r>
              <a:rPr lang="en-US" sz="3000" dirty="0">
                <a:solidFill>
                  <a:srgbClr val="FFFFFF"/>
                </a:solidFill>
              </a:rPr>
              <a:t>Người trình bày: [Họ tên của bạn]</a:t>
            </a:r>
            <a:endParaRPr lang="en-US" sz="3000" dirty="0"/>
          </a:p>
        </p:txBody>
      </p:sp>
      <p:sp>
        <p:nvSpPr>
          <p:cNvPr id="5" name="Hinh tron 1"/>
          <p:cNvSpPr/>
          <p:nvPr/>
        </p:nvSpPr>
        <p:spPr>
          <a:xfrm>
            <a:off x="9692640" y="4754880"/>
            <a:ext cx="3108960" cy="3108960"/>
          </a:xfrm>
          <a:prstGeom prst="ellipse">
            <a:avLst/>
          </a:prstGeom>
          <a:solidFill>
            <a:schemeClr val="accent1">
              <a:alpha val="65000"/>
            </a:schemeClr>
          </a:solidFill>
          <a:ln w="12700">
            <a:solidFill>
              <a:schemeClr val="accent1">
                <a:alpha val="0"/>
              </a:schemeClr>
            </a:solidFill>
            <a:prstDash val="solid"/>
          </a:ln>
        </p:spPr>
      </p:sp>
      <p:sp>
        <p:nvSpPr>
          <p:cNvPr id="6" name="Hinh tron 2"/>
          <p:cNvSpPr/>
          <p:nvPr/>
        </p:nvSpPr>
        <p:spPr>
          <a:xfrm>
            <a:off x="8778240" y="5669280"/>
            <a:ext cx="1645920" cy="1645920"/>
          </a:xfrm>
          <a:prstGeom prst="ellipse">
            <a:avLst/>
          </a:prstGeom>
          <a:solidFill>
            <a:schemeClr val="accent2">
              <a:alpha val="80000"/>
            </a:schemeClr>
          </a:solidFill>
          <a:ln w="12700">
            <a:solidFill>
              <a:schemeClr val="accent2">
                <a:alpha val="0"/>
              </a:scheme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371600"/>
          </a:xfrm>
          <a:prstGeom prst="rect">
            <a:avLst/>
          </a:prstGeom>
          <a:noFill/>
          <a:ln/>
        </p:spPr>
        <p:txBody>
          <a:bodyPr wrap="square" lIns="0" tIns="0" rIns="0" bIns="0" rtlCol="0" anchor="ctr"/>
          <a:lstStyle/>
          <a:p>
            <a:pPr algn="l" indent="0" marL="0">
              <a:buNone/>
            </a:pPr>
            <a:r>
              <a:rPr lang="en-US" sz="3600" b="1" dirty="0">
                <a:solidFill>
                  <a:schemeClr val="tx2"/>
                </a:solidFill>
              </a:rPr>
              <a:t>Doanh thu tháng 5 tăng 18,6% nhờ ưu đãi nạp điện thoại</a:t>
            </a:r>
            <a:endParaRPr lang="en-US" sz="3600" dirty="0"/>
          </a:p>
        </p:txBody>
      </p:sp>
      <p:sp>
        <p:nvSpPr>
          <p:cNvPr id="3" name="Don vi"/>
          <p:cNvSpPr txBox="1"/>
          <p:nvPr/>
        </p:nvSpPr>
        <p:spPr>
          <a:xfrm>
            <a:off x="548640" y="1691640"/>
            <a:ext cx="4572000" cy="548640"/>
          </a:xfrm>
          <a:prstGeom prst="rect">
            <a:avLst/>
          </a:prstGeom>
          <a:noFill/>
          <a:ln/>
        </p:spPr>
        <p:txBody>
          <a:bodyPr wrap="square" lIns="0" tIns="0" rIns="0" bIns="0" rtlCol="0" anchor="ctr"/>
          <a:lstStyle/>
          <a:p>
            <a:pPr indent="0" marL="0">
              <a:buNone/>
            </a:pPr>
            <a:r>
              <a:rPr lang="en-US" sz="3000" dirty="0">
                <a:solidFill>
                  <a:srgbClr val="5A5F7A"/>
                </a:solidFill>
              </a:rPr>
              <a:t>Đơn vị: tỷ VND</a:t>
            </a:r>
            <a:endParaRPr lang="en-US" sz="3000" dirty="0"/>
          </a:p>
        </p:txBody>
      </p:sp>
      <p:graphicFrame>
        <p:nvGraphicFramePr>
          <p:cNvPr id="4" name="Bieu do doanh thu" descr=""/>
          <p:cNvGraphicFramePr/>
          <p:nvPr/>
        </p:nvGraphicFramePr>
        <p:xfrm>
          <a:off x="548640" y="2194560"/>
          <a:ext cx="11064240" cy="44805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371600"/>
          </a:xfrm>
          <a:prstGeom prst="rect">
            <a:avLst/>
          </a:prstGeom>
          <a:noFill/>
          <a:ln/>
        </p:spPr>
        <p:txBody>
          <a:bodyPr wrap="square" lIns="0" tIns="0" rIns="0" bIns="0" rtlCol="0" anchor="ctr"/>
          <a:lstStyle/>
          <a:p>
            <a:pPr algn="l" indent="0" marL="0">
              <a:buNone/>
            </a:pPr>
            <a:r>
              <a:rPr lang="en-US" sz="3600" b="1" dirty="0">
                <a:solidFill>
                  <a:schemeClr val="tx2"/>
                </a:solidFill>
              </a:rPr>
              <a:t>Chi phí chỉ tăng 12% trong khi doanh thu tăng 18,6%</a:t>
            </a:r>
            <a:endParaRPr lang="en-US" sz="3600" dirty="0"/>
          </a:p>
        </p:txBody>
      </p:sp>
      <p:sp>
        <p:nvSpPr>
          <p:cNvPr id="3" name="Don vi"/>
          <p:cNvSpPr txBox="1"/>
          <p:nvPr/>
        </p:nvSpPr>
        <p:spPr>
          <a:xfrm>
            <a:off x="548640" y="1691640"/>
            <a:ext cx="4572000" cy="548640"/>
          </a:xfrm>
          <a:prstGeom prst="rect">
            <a:avLst/>
          </a:prstGeom>
          <a:noFill/>
          <a:ln/>
        </p:spPr>
        <p:txBody>
          <a:bodyPr wrap="square" lIns="0" tIns="0" rIns="0" bIns="0" rtlCol="0" anchor="ctr"/>
          <a:lstStyle/>
          <a:p>
            <a:pPr indent="0" marL="0">
              <a:buNone/>
            </a:pPr>
            <a:r>
              <a:rPr lang="en-US" sz="3000" dirty="0">
                <a:solidFill>
                  <a:srgbClr val="5A5F7A"/>
                </a:solidFill>
              </a:rPr>
              <a:t>Đơn vị: tỷ VND</a:t>
            </a:r>
            <a:endParaRPr lang="en-US" sz="3000" dirty="0"/>
          </a:p>
        </p:txBody>
      </p:sp>
      <p:graphicFrame>
        <p:nvGraphicFramePr>
          <p:cNvPr id="4" name="Bieu do so sanh" descr=""/>
          <p:cNvGraphicFramePr/>
          <p:nvPr/>
        </p:nvGraphicFramePr>
        <p:xfrm>
          <a:off x="548640" y="2194560"/>
          <a:ext cx="11064240" cy="44805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371600"/>
          </a:xfrm>
          <a:prstGeom prst="rect">
            <a:avLst/>
          </a:prstGeom>
          <a:noFill/>
          <a:ln/>
        </p:spPr>
        <p:txBody>
          <a:bodyPr wrap="square" lIns="0" tIns="0" rIns="0" bIns="0" rtlCol="0" anchor="ctr"/>
          <a:lstStyle/>
          <a:p>
            <a:pPr algn="l" indent="0" marL="0">
              <a:buNone/>
            </a:pPr>
            <a:r>
              <a:rPr lang="en-US" sz="3600" b="1" dirty="0">
                <a:solidFill>
                  <a:schemeClr val="tx2"/>
                </a:solidFill>
              </a:rPr>
              <a:t>Vận hành và marketing chiếm gần 84% tổng chi phí</a:t>
            </a:r>
            <a:endParaRPr lang="en-US" sz="3600" dirty="0"/>
          </a:p>
        </p:txBody>
      </p:sp>
      <p:graphicFrame>
        <p:nvGraphicFramePr>
          <p:cNvPr id="3" name="Bieu do co cau chi phi" descr=""/>
          <p:cNvGraphicFramePr/>
          <p:nvPr/>
        </p:nvGraphicFramePr>
        <p:xfrm>
          <a:off x="548640" y="1828800"/>
          <a:ext cx="11064240" cy="48463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371600"/>
          </a:xfrm>
          <a:prstGeom prst="rect">
            <a:avLst/>
          </a:prstGeom>
          <a:noFill/>
          <a:ln/>
        </p:spPr>
        <p:txBody>
          <a:bodyPr wrap="square" lIns="0" tIns="0" rIns="0" bIns="0" rtlCol="0" anchor="ctr"/>
          <a:lstStyle/>
          <a:p>
            <a:pPr algn="l" indent="0" marL="0">
              <a:buNone/>
            </a:pPr>
            <a:r>
              <a:rPr lang="en-US" sz="3600" b="1" dirty="0">
                <a:solidFill>
                  <a:schemeClr val="tx2"/>
                </a:solidFill>
              </a:rPr>
              <a:t>Vietcombank chiếm 20,6% tổng phí trả cho ngân hàng</a:t>
            </a:r>
            <a:endParaRPr lang="en-US" sz="3600" dirty="0"/>
          </a:p>
        </p:txBody>
      </p:sp>
      <p:sp>
        <p:nvSpPr>
          <p:cNvPr id="3" name="Don vi"/>
          <p:cNvSpPr txBox="1"/>
          <p:nvPr/>
        </p:nvSpPr>
        <p:spPr>
          <a:xfrm>
            <a:off x="548640" y="1691640"/>
            <a:ext cx="8229600" cy="548640"/>
          </a:xfrm>
          <a:prstGeom prst="rect">
            <a:avLst/>
          </a:prstGeom>
          <a:noFill/>
          <a:ln/>
        </p:spPr>
        <p:txBody>
          <a:bodyPr wrap="square" lIns="0" tIns="0" rIns="0" bIns="0" rtlCol="0" anchor="ctr"/>
          <a:lstStyle/>
          <a:p>
            <a:pPr indent="0" marL="0">
              <a:buNone/>
            </a:pPr>
            <a:r>
              <a:rPr lang="en-US" sz="3000" dirty="0">
                <a:solidFill>
                  <a:srgbClr val="5A5F7A"/>
                </a:solidFill>
              </a:rPr>
              <a:t>Top 5 ngân hàng - Đơn vị: triệu VND</a:t>
            </a:r>
            <a:endParaRPr lang="en-US" sz="3000" dirty="0"/>
          </a:p>
        </p:txBody>
      </p:sp>
      <p:graphicFrame>
        <p:nvGraphicFramePr>
          <p:cNvPr id="4" name="Bieu do phi ngan hang" descr=""/>
          <p:cNvGraphicFramePr/>
          <p:nvPr/>
        </p:nvGraphicFramePr>
        <p:xfrm>
          <a:off x="548640" y="2194560"/>
          <a:ext cx="11064240" cy="44805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371600"/>
          </a:xfrm>
          <a:prstGeom prst="rect">
            <a:avLst/>
          </a:prstGeom>
          <a:noFill/>
          <a:ln/>
        </p:spPr>
        <p:txBody>
          <a:bodyPr wrap="square" lIns="0" tIns="0" rIns="0" bIns="0" rtlCol="0" anchor="ctr"/>
          <a:lstStyle/>
          <a:p>
            <a:pPr algn="l" indent="0" marL="0">
              <a:buNone/>
            </a:pPr>
            <a:r>
              <a:rPr lang="en-US" sz="3600" b="1" dirty="0">
                <a:solidFill>
                  <a:schemeClr val="tx2"/>
                </a:solidFill>
              </a:rPr>
              <a:t>Lãi gộp tháng 5 đạt 5,17 tỷ, tăng 29,3% so với tháng 4</a:t>
            </a:r>
            <a:endParaRPr lang="en-US" sz="3600" dirty="0"/>
          </a:p>
        </p:txBody>
      </p:sp>
      <p:sp>
        <p:nvSpPr>
          <p:cNvPr id="3" name="The 1"/>
          <p:cNvSpPr/>
          <p:nvPr/>
        </p:nvSpPr>
        <p:spPr>
          <a:xfrm>
            <a:off x="548640" y="1920240"/>
            <a:ext cx="3566160" cy="2286000"/>
          </a:xfrm>
          <a:prstGeom prst="roundRect">
            <a:avLst>
              <a:gd name="adj" fmla="val 6000"/>
            </a:avLst>
          </a:prstGeom>
          <a:solidFill>
            <a:schemeClr val="bg2"/>
          </a:solidFill>
          <a:ln w="12700">
            <a:solidFill>
              <a:schemeClr val="bg2"/>
            </a:solidFill>
            <a:prstDash val="solid"/>
          </a:ln>
        </p:spPr>
      </p:sp>
      <p:sp>
        <p:nvSpPr>
          <p:cNvPr id="4" name="So 1"/>
          <p:cNvSpPr txBox="1"/>
          <p:nvPr/>
        </p:nvSpPr>
        <p:spPr>
          <a:xfrm>
            <a:off x="548640" y="2103120"/>
            <a:ext cx="3566160" cy="1097280"/>
          </a:xfrm>
          <a:prstGeom prst="rect">
            <a:avLst/>
          </a:prstGeom>
          <a:noFill/>
          <a:ln/>
        </p:spPr>
        <p:txBody>
          <a:bodyPr wrap="square" lIns="0" tIns="0" rIns="0" bIns="0" rtlCol="0" anchor="ctr"/>
          <a:lstStyle/>
          <a:p>
            <a:pPr algn="ctr" indent="0" marL="0">
              <a:buNone/>
            </a:pPr>
            <a:r>
              <a:rPr lang="en-US" sz="4800" b="1" dirty="0">
                <a:solidFill>
                  <a:srgbClr val="5B3FD0"/>
                </a:solidFill>
              </a:rPr>
              <a:t>12,45 tỷ</a:t>
            </a:r>
            <a:endParaRPr lang="en-US" sz="4800" dirty="0"/>
          </a:p>
        </p:txBody>
      </p:sp>
      <p:sp>
        <p:nvSpPr>
          <p:cNvPr id="5" name="Nhan 1"/>
          <p:cNvSpPr txBox="1"/>
          <p:nvPr/>
        </p:nvSpPr>
        <p:spPr>
          <a:xfrm>
            <a:off x="548640" y="3200400"/>
            <a:ext cx="3566160" cy="731520"/>
          </a:xfrm>
          <a:prstGeom prst="rect">
            <a:avLst/>
          </a:prstGeom>
          <a:noFill/>
          <a:ln/>
        </p:spPr>
        <p:txBody>
          <a:bodyPr wrap="square" lIns="0" tIns="0" rIns="0" bIns="0" rtlCol="0" anchor="ctr"/>
          <a:lstStyle/>
          <a:p>
            <a:pPr algn="ctr" indent="0" marL="0">
              <a:buNone/>
            </a:pPr>
            <a:r>
              <a:rPr lang="en-US" sz="3000" dirty="0">
                <a:solidFill>
                  <a:srgbClr val="222222"/>
                </a:solidFill>
              </a:rPr>
              <a:t>Doanh thu</a:t>
            </a:r>
            <a:endParaRPr lang="en-US" sz="3000" dirty="0"/>
          </a:p>
        </p:txBody>
      </p:sp>
      <p:sp>
        <p:nvSpPr>
          <p:cNvPr id="6" name="The 2"/>
          <p:cNvSpPr/>
          <p:nvPr/>
        </p:nvSpPr>
        <p:spPr>
          <a:xfrm>
            <a:off x="4297680" y="1920240"/>
            <a:ext cx="3566160" cy="2286000"/>
          </a:xfrm>
          <a:prstGeom prst="roundRect">
            <a:avLst>
              <a:gd name="adj" fmla="val 6000"/>
            </a:avLst>
          </a:prstGeom>
          <a:solidFill>
            <a:schemeClr val="bg2"/>
          </a:solidFill>
          <a:ln w="12700">
            <a:solidFill>
              <a:schemeClr val="bg2"/>
            </a:solidFill>
            <a:prstDash val="solid"/>
          </a:ln>
        </p:spPr>
      </p:sp>
      <p:sp>
        <p:nvSpPr>
          <p:cNvPr id="7" name="So 2"/>
          <p:cNvSpPr txBox="1"/>
          <p:nvPr/>
        </p:nvSpPr>
        <p:spPr>
          <a:xfrm>
            <a:off x="4297680" y="2103120"/>
            <a:ext cx="3566160" cy="1097280"/>
          </a:xfrm>
          <a:prstGeom prst="rect">
            <a:avLst/>
          </a:prstGeom>
          <a:noFill/>
          <a:ln/>
        </p:spPr>
        <p:txBody>
          <a:bodyPr wrap="square" lIns="0" tIns="0" rIns="0" bIns="0" rtlCol="0" anchor="ctr"/>
          <a:lstStyle/>
          <a:p>
            <a:pPr algn="ctr" indent="0" marL="0">
              <a:buNone/>
            </a:pPr>
            <a:r>
              <a:rPr lang="en-US" sz="4800" b="1" dirty="0">
                <a:solidFill>
                  <a:srgbClr val="F28C28"/>
                </a:solidFill>
              </a:rPr>
              <a:t>7,28 tỷ</a:t>
            </a:r>
            <a:endParaRPr lang="en-US" sz="4800" dirty="0"/>
          </a:p>
        </p:txBody>
      </p:sp>
      <p:sp>
        <p:nvSpPr>
          <p:cNvPr id="8" name="Nhan 2"/>
          <p:cNvSpPr txBox="1"/>
          <p:nvPr/>
        </p:nvSpPr>
        <p:spPr>
          <a:xfrm>
            <a:off x="4297680" y="3200400"/>
            <a:ext cx="3566160" cy="731520"/>
          </a:xfrm>
          <a:prstGeom prst="rect">
            <a:avLst/>
          </a:prstGeom>
          <a:noFill/>
          <a:ln/>
        </p:spPr>
        <p:txBody>
          <a:bodyPr wrap="square" lIns="0" tIns="0" rIns="0" bIns="0" rtlCol="0" anchor="ctr"/>
          <a:lstStyle/>
          <a:p>
            <a:pPr algn="ctr" indent="0" marL="0">
              <a:buNone/>
            </a:pPr>
            <a:r>
              <a:rPr lang="en-US" sz="3000" dirty="0">
                <a:solidFill>
                  <a:srgbClr val="222222"/>
                </a:solidFill>
              </a:rPr>
              <a:t>Chi phí</a:t>
            </a:r>
            <a:endParaRPr lang="en-US" sz="3000" dirty="0"/>
          </a:p>
        </p:txBody>
      </p:sp>
      <p:sp>
        <p:nvSpPr>
          <p:cNvPr id="9" name="The 3"/>
          <p:cNvSpPr/>
          <p:nvPr/>
        </p:nvSpPr>
        <p:spPr>
          <a:xfrm>
            <a:off x="8046720" y="1920240"/>
            <a:ext cx="3566160" cy="2286000"/>
          </a:xfrm>
          <a:prstGeom prst="roundRect">
            <a:avLst>
              <a:gd name="adj" fmla="val 6000"/>
            </a:avLst>
          </a:prstGeom>
          <a:solidFill>
            <a:schemeClr val="bg2"/>
          </a:solidFill>
          <a:ln w="12700">
            <a:solidFill>
              <a:schemeClr val="bg2"/>
            </a:solidFill>
            <a:prstDash val="solid"/>
          </a:ln>
        </p:spPr>
      </p:sp>
      <p:sp>
        <p:nvSpPr>
          <p:cNvPr id="10" name="So 3"/>
          <p:cNvSpPr txBox="1"/>
          <p:nvPr/>
        </p:nvSpPr>
        <p:spPr>
          <a:xfrm>
            <a:off x="8046720" y="2103120"/>
            <a:ext cx="3566160" cy="1097280"/>
          </a:xfrm>
          <a:prstGeom prst="rect">
            <a:avLst/>
          </a:prstGeom>
          <a:noFill/>
          <a:ln/>
        </p:spPr>
        <p:txBody>
          <a:bodyPr wrap="square" lIns="0" tIns="0" rIns="0" bIns="0" rtlCol="0" anchor="ctr"/>
          <a:lstStyle/>
          <a:p>
            <a:pPr algn="ctr" indent="0" marL="0">
              <a:buNone/>
            </a:pPr>
            <a:r>
              <a:rPr lang="en-US" sz="4800" b="1" dirty="0">
                <a:solidFill>
                  <a:srgbClr val="2E9E6B"/>
                </a:solidFill>
              </a:rPr>
              <a:t>5,17 tỷ</a:t>
            </a:r>
            <a:endParaRPr lang="en-US" sz="4800" dirty="0"/>
          </a:p>
        </p:txBody>
      </p:sp>
      <p:sp>
        <p:nvSpPr>
          <p:cNvPr id="11" name="Nhan 3"/>
          <p:cNvSpPr txBox="1"/>
          <p:nvPr/>
        </p:nvSpPr>
        <p:spPr>
          <a:xfrm>
            <a:off x="8046720" y="3200400"/>
            <a:ext cx="3566160" cy="731520"/>
          </a:xfrm>
          <a:prstGeom prst="rect">
            <a:avLst/>
          </a:prstGeom>
          <a:noFill/>
          <a:ln/>
        </p:spPr>
        <p:txBody>
          <a:bodyPr wrap="square" lIns="0" tIns="0" rIns="0" bIns="0" rtlCol="0" anchor="ctr"/>
          <a:lstStyle/>
          <a:p>
            <a:pPr algn="ctr" indent="0" marL="0">
              <a:buNone/>
            </a:pPr>
            <a:r>
              <a:rPr lang="en-US" sz="3000" dirty="0">
                <a:solidFill>
                  <a:srgbClr val="222222"/>
                </a:solidFill>
              </a:rPr>
              <a:t>Lãi gộp</a:t>
            </a:r>
            <a:endParaRPr lang="en-US" sz="3000" dirty="0"/>
          </a:p>
        </p:txBody>
      </p:sp>
      <p:sp>
        <p:nvSpPr>
          <p:cNvPr id="12" name="Viec can lam"/>
          <p:cNvSpPr txBox="1"/>
          <p:nvPr/>
        </p:nvSpPr>
        <p:spPr>
          <a:xfrm>
            <a:off x="548640" y="4526280"/>
            <a:ext cx="11064240" cy="1828800"/>
          </a:xfrm>
          <a:prstGeom prst="rect">
            <a:avLst/>
          </a:prstGeom>
          <a:noFill/>
          <a:ln/>
        </p:spPr>
        <p:txBody>
          <a:bodyPr wrap="square" lIns="0" tIns="0" rIns="0" bIns="0" rtlCol="0" anchor="t"/>
          <a:lstStyle/>
          <a:p>
            <a:pPr marL="342900" indent="-342900">
              <a:spcAft>
                <a:spcPts val="800"/>
              </a:spcAft>
              <a:buSzPct val="100000"/>
              <a:buChar char="•"/>
            </a:pPr>
            <a:r>
              <a:rPr lang="en-US" sz="3200" dirty="0">
                <a:solidFill>
                  <a:srgbClr val="222222"/>
                </a:solidFill>
              </a:rPr>
              <a:t>Giữ ưu đãi nạp điện thoại</a:t>
            </a:r>
            <a:endParaRPr lang="en-US" sz="3200" dirty="0"/>
          </a:p>
          <a:p>
            <a:pPr marL="342900" indent="-342900">
              <a:spcAft>
                <a:spcPts val="800"/>
              </a:spcAft>
              <a:buSzPct val="100000"/>
              <a:buChar char="•"/>
            </a:pPr>
            <a:r>
              <a:rPr lang="en-US" sz="3200" dirty="0">
                <a:solidFill>
                  <a:srgbClr val="222222"/>
                </a:solidFill>
              </a:rPr>
              <a:t>Đàm phán lại phí với ngân hàng lớn</a:t>
            </a:r>
            <a:endParaRPr lang="en-US" sz="3200" dirty="0"/>
          </a:p>
        </p:txBody>
      </p:sp>
    </p:spTree>
  </p:cSld>
  <p:clrMapOvr>
    <a:masterClrMapping/>
  </p:clrMapOvr>
</p:sld>
</file>

<file path=ppt/theme/theme1.xml><?xml version="1.0" encoding="utf-8"?>
<a:theme xmlns:a="http://schemas.openxmlformats.org/drawingml/2006/main" name="PayKX">
  <a:themeElements>
    <a:clrScheme name="PayKX">
      <a:dk1>
        <a:srgbClr val="222222"/>
      </a:dk1>
      <a:lt1>
        <a:srgbClr val="FFFFFF"/>
      </a:lt1>
      <a:dk2>
        <a:srgbClr val="1F2A5C"/>
      </a:dk2>
      <a:lt2>
        <a:srgbClr val="EEF0FA"/>
      </a:lt2>
      <a:accent1>
        <a:srgbClr val="5B3FD0"/>
      </a:accent1>
      <a:accent2>
        <a:srgbClr val="F28C28"/>
      </a:accent2>
      <a:accent3>
        <a:srgbClr val="2E9E6B"/>
      </a:accent3>
      <a:accent4>
        <a:srgbClr val="2E6BD0"/>
      </a:accent4>
      <a:accent5>
        <a:srgbClr val="D64545"/>
      </a:accent5>
      <a:accent6>
        <a:srgbClr val="8A8FA8"/>
      </a:accent6>
      <a:hlink>
        <a:srgbClr val="2E6BD0"/>
      </a:hlink>
      <a:folHlink>
        <a:srgbClr val="8A8FA8"/>
      </a:folHlink>
    </a:clrScheme>
    <a:fontScheme name="PayKX">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lỗ lãi PayKX tháng 05/2024</dc:title>
  <dc:subject>PptxGenJS Presentation</dc:subject>
  <dc:creator>Nhóm PayKX</dc:creator>
  <cp:lastModifiedBy>Nhóm PayKX</cp:lastModifiedBy>
  <cp:revision>1</cp:revision>
  <dcterms:created xsi:type="dcterms:W3CDTF">2026-10-26T16:27:13Z</dcterms:created>
  <dcterms:modified xsi:type="dcterms:W3CDTF">2026-10-26T16:27:13Z</dcterms:modified>
</cp:coreProperties>
</file>
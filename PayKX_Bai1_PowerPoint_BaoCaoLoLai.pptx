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notesSlides/notesSlide3.xml" ContentType="application/vnd.openxmlformats-officedocument.presentationml.notesSlide+xml"/>
  <Override PartName="/ppt/charts/chart2.xml" ContentType="application/vnd.openxmlformats-officedocument.drawingml.chart+xml"/>
  <Override PartName="/ppt/notesSlides/notesSlide4.xml" ContentType="application/vnd.openxmlformats-officedocument.presentationml.notesSlide+xml"/>
  <Override PartName="/ppt/charts/chart3.xml" ContentType="application/vnd.openxmlformats-officedocument.drawingml.chart+xml"/>
  <Override PartName="/ppt/notesSlides/notesSlide5.xml" ContentType="application/vnd.openxmlformats-officedocument.presentationml.notesSlide+xml"/>
  <Override PartName="/ppt/charts/chart4.xml" ContentType="application/vnd.openxmlformats-officedocument.drawingml.chart+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7" r:id="rId3"/>
    <p:sldId id="258" r:id="rId4"/>
    <p:sldId id="259" r:id="rId5"/>
    <p:sldId id="260" r:id="rId6"/>
    <p:sldId id="261"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59D79DD3-CE0F-2630-96EF-D64E2CCEF07C}">
          <p14:sldIdLst>
            <p14:sldId id="256"/>
          </p14:sldIdLst>
        </p14:section>
        <p14:section name="Kết quả" id="{7463BE32-B399-0721-3EDD-5E810F0326A0}">
          <p14:sldIdLst>
            <p14:sldId id="257"/>
            <p14:sldId id="258"/>
          </p14:sldIdLst>
        </p14:section>
        <p14:section name="Chi phí" id="{6E5546A9-ED08-B0AA-D3F2-83042E1F4C0E}">
          <p14:sldIdLst>
            <p14:sldId id="259"/>
            <p14:sldId id="260"/>
          </p14:sldIdLst>
        </p14:section>
        <p14:section name="Kết luận" id="{A85BB551-2C08-719C-A2A8-52310DC93634}">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Doanh thu thuần</c:v>
                </c:pt>
              </c:strCache>
            </c:strRef>
          </c:tx>
          <c:spPr>
            <a:solidFill>
              <a:srgbClr val="B9BDD6"/>
            </a:solidFill>
            <a:effectLst/>
          </c:spPr>
          <c:invertIfNegative val="0"/>
          <c:dPt>
            <c:idx val="0"/>
            <c:invertIfNegative val="0"/>
            <c:bubble3D val="0"/>
            <c:extLst>
              <c:ext xmlns:c16="http://schemas.microsoft.com/office/drawing/2014/chart" uri="{C3380CC4-5D6E-409C-BE32-E72D297353CC}">
                <c16:uniqueId val="{00000001-653F-40A8-BF62-AC617F931197}"/>
              </c:ext>
            </c:extLst>
          </c:dPt>
          <c:dPt>
            <c:idx val="1"/>
            <c:invertIfNegative val="0"/>
            <c:bubble3D val="0"/>
            <c:extLst>
              <c:ext xmlns:c16="http://schemas.microsoft.com/office/drawing/2014/chart" uri="{C3380CC4-5D6E-409C-BE32-E72D297353CC}">
                <c16:uniqueId val="{00000003-653F-40A8-BF62-AC617F931197}"/>
              </c:ext>
            </c:extLst>
          </c:dPt>
          <c:dPt>
            <c:idx val="2"/>
            <c:invertIfNegative val="0"/>
            <c:bubble3D val="0"/>
            <c:extLst>
              <c:ext xmlns:c16="http://schemas.microsoft.com/office/drawing/2014/chart" uri="{C3380CC4-5D6E-409C-BE32-E72D297353CC}">
                <c16:uniqueId val="{00000005-653F-40A8-BF62-AC617F931197}"/>
              </c:ext>
            </c:extLst>
          </c:dPt>
          <c:dPt>
            <c:idx val="3"/>
            <c:invertIfNegative val="0"/>
            <c:bubble3D val="0"/>
            <c:extLst>
              <c:ext xmlns:c16="http://schemas.microsoft.com/office/drawing/2014/chart" uri="{C3380CC4-5D6E-409C-BE32-E72D297353CC}">
                <c16:uniqueId val="{00000007-653F-40A8-BF62-AC617F931197}"/>
              </c:ext>
            </c:extLst>
          </c:dPt>
          <c:dPt>
            <c:idx val="4"/>
            <c:invertIfNegative val="0"/>
            <c:bubble3D val="0"/>
            <c:spPr>
              <a:solidFill>
                <a:srgbClr val="F28C28"/>
              </a:solidFill>
              <a:effectLst/>
            </c:spPr>
            <c:extLst>
              <c:ext xmlns:c16="http://schemas.microsoft.com/office/drawing/2014/chart" uri="{C3380CC4-5D6E-409C-BE32-E72D297353CC}">
                <c16:uniqueId val="{00000009-653F-40A8-BF62-AC617F931197}"/>
              </c:ext>
            </c:extLst>
          </c:dPt>
          <c:dLbls>
            <c:numFmt formatCode="0.00" sourceLinked="0"/>
            <c:spPr>
              <a:noFill/>
              <a:ln>
                <a:noFill/>
              </a:ln>
              <a:effectLst/>
            </c:spPr>
            <c:txPr>
              <a:bodyPr/>
              <a:lstStyle/>
              <a:p>
                <a:pPr>
                  <a:defRPr sz="3000" b="0" i="0" u="none" strike="noStrike">
                    <a:solidFill>
                      <a:srgbClr val="222222"/>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T01</c:v>
                </c:pt>
                <c:pt idx="1">
                  <c:v>T02</c:v>
                </c:pt>
                <c:pt idx="2">
                  <c:v>T03</c:v>
                </c:pt>
                <c:pt idx="3">
                  <c:v>T04</c:v>
                </c:pt>
                <c:pt idx="4">
                  <c:v>T05</c:v>
                </c:pt>
              </c:strCache>
            </c:strRef>
          </c:cat>
          <c:val>
            <c:numRef>
              <c:f>Sheet1!$B$2:$B$6</c:f>
              <c:numCache>
                <c:formatCode>General</c:formatCode>
                <c:ptCount val="5"/>
                <c:pt idx="0">
                  <c:v>7.28</c:v>
                </c:pt>
                <c:pt idx="1">
                  <c:v>8.01</c:v>
                </c:pt>
                <c:pt idx="2">
                  <c:v>9.36</c:v>
                </c:pt>
                <c:pt idx="3">
                  <c:v>10.5</c:v>
                </c:pt>
                <c:pt idx="4">
                  <c:v>12.45</c:v>
                </c:pt>
              </c:numCache>
            </c:numRef>
          </c:val>
          <c:extLst>
            <c:ext xmlns:c16="http://schemas.microsoft.com/office/drawing/2014/chart" uri="{C3380CC4-5D6E-409C-BE32-E72D297353CC}">
              <c16:uniqueId val="{0000000A-653F-40A8-BF62-AC617F931197}"/>
            </c:ext>
          </c:extLst>
        </c:ser>
        <c:dLbls>
          <c:showLegendKey val="0"/>
          <c:showVal val="1"/>
          <c:showCatName val="0"/>
          <c:showSerName val="0"/>
          <c:showPercent val="0"/>
          <c:showBubbleSize val="0"/>
        </c:dLbls>
        <c:gapWidth val="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3000" b="0" i="0" u="none" strike="noStrike">
                <a:solidFill>
                  <a:srgbClr val="222222"/>
                </a:solidFill>
                <a:latin typeface="+mn-lt"/>
              </a:defRPr>
            </a:pPr>
            <a:endParaRPr lang="en-US"/>
          </a:p>
        </c:txPr>
        <c:crossAx val="2094734552"/>
        <c:crosses val="autoZero"/>
        <c:auto val="1"/>
        <c:lblAlgn val="ctr"/>
        <c:lblOffset val="100"/>
        <c:noMultiLvlLbl val="1"/>
      </c:catAx>
      <c:valAx>
        <c:axId val="2094734552"/>
        <c:scaling>
          <c:orientation val="minMax"/>
          <c:max val="1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col"/>
        <c:grouping val="clustered"/>
        <c:varyColors val="0"/>
        <c:ser>
          <c:idx val="0"/>
          <c:order val="0"/>
          <c:tx>
            <c:strRef>
              <c:f>Sheet1!$B$1</c:f>
              <c:strCache>
                <c:ptCount val="1"/>
                <c:pt idx="0">
                  <c:v>Tháng 4</c:v>
                </c:pt>
              </c:strCache>
            </c:strRef>
          </c:tx>
          <c:spPr>
            <a:solidFill>
              <a:srgbClr val="B9BDD6"/>
            </a:solidFill>
            <a:effectLst/>
          </c:spPr>
          <c:invertIfNegative val="0"/>
          <c:dLbls>
            <c:numFmt formatCode="0.00" sourceLinked="0"/>
            <c:spPr>
              <a:noFill/>
              <a:ln>
                <a:noFill/>
              </a:ln>
              <a:effectLst/>
            </c:spPr>
            <c:txPr>
              <a:bodyPr/>
              <a:lstStyle/>
              <a:p>
                <a:pPr>
                  <a:defRPr sz="3000" b="0" i="0" u="none" strike="noStrike">
                    <a:solidFill>
                      <a:srgbClr val="222222"/>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Doanh thu</c:v>
                </c:pt>
                <c:pt idx="1">
                  <c:v>Chi phí</c:v>
                </c:pt>
                <c:pt idx="2">
                  <c:v>Lãi gộp</c:v>
                </c:pt>
              </c:strCache>
            </c:strRef>
          </c:cat>
          <c:val>
            <c:numRef>
              <c:f>Sheet1!$B$2:$B$4</c:f>
              <c:numCache>
                <c:formatCode>General</c:formatCode>
                <c:ptCount val="3"/>
                <c:pt idx="0">
                  <c:v>10.5</c:v>
                </c:pt>
                <c:pt idx="1">
                  <c:v>6.5</c:v>
                </c:pt>
                <c:pt idx="2">
                  <c:v>4</c:v>
                </c:pt>
              </c:numCache>
            </c:numRef>
          </c:val>
          <c:extLst>
            <c:ext xmlns:c16="http://schemas.microsoft.com/office/drawing/2014/chart" uri="{C3380CC4-5D6E-409C-BE32-E72D297353CC}">
              <c16:uniqueId val="{00000000-E490-4607-B21F-B8362E58E071}"/>
            </c:ext>
          </c:extLst>
        </c:ser>
        <c:ser>
          <c:idx val="1"/>
          <c:order val="1"/>
          <c:tx>
            <c:strRef>
              <c:f>Sheet1!$C$1</c:f>
              <c:strCache>
                <c:ptCount val="1"/>
                <c:pt idx="0">
                  <c:v>Tháng 5</c:v>
                </c:pt>
              </c:strCache>
            </c:strRef>
          </c:tx>
          <c:spPr>
            <a:solidFill>
              <a:srgbClr val="5B3FD0"/>
            </a:solidFill>
            <a:effectLst/>
          </c:spPr>
          <c:invertIfNegative val="0"/>
          <c:dLbls>
            <c:numFmt formatCode="0.00" sourceLinked="0"/>
            <c:spPr>
              <a:noFill/>
              <a:ln>
                <a:noFill/>
              </a:ln>
              <a:effectLst/>
            </c:spPr>
            <c:txPr>
              <a:bodyPr/>
              <a:lstStyle/>
              <a:p>
                <a:pPr>
                  <a:defRPr sz="3000" b="0" i="0" u="none" strike="noStrike">
                    <a:solidFill>
                      <a:srgbClr val="222222"/>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Doanh thu</c:v>
                </c:pt>
                <c:pt idx="1">
                  <c:v>Chi phí</c:v>
                </c:pt>
                <c:pt idx="2">
                  <c:v>Lãi gộp</c:v>
                </c:pt>
              </c:strCache>
            </c:strRef>
          </c:cat>
          <c:val>
            <c:numRef>
              <c:f>Sheet1!$C$2:$C$4</c:f>
              <c:numCache>
                <c:formatCode>General</c:formatCode>
                <c:ptCount val="3"/>
                <c:pt idx="0">
                  <c:v>12.45</c:v>
                </c:pt>
                <c:pt idx="1">
                  <c:v>7.28</c:v>
                </c:pt>
                <c:pt idx="2">
                  <c:v>5.17</c:v>
                </c:pt>
              </c:numCache>
            </c:numRef>
          </c:val>
          <c:extLst>
            <c:ext xmlns:c16="http://schemas.microsoft.com/office/drawing/2014/chart" uri="{C3380CC4-5D6E-409C-BE32-E72D297353CC}">
              <c16:uniqueId val="{00000001-E490-4607-B21F-B8362E58E071}"/>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3000" b="0" i="0" u="none" strike="noStrike">
                <a:solidFill>
                  <a:srgbClr val="222222"/>
                </a:solidFill>
                <a:latin typeface="+mn-lt"/>
              </a:defRPr>
            </a:pPr>
            <a:endParaRPr lang="en-US"/>
          </a:p>
        </c:txPr>
        <c:crossAx val="2094734552"/>
        <c:crosses val="autoZero"/>
        <c:auto val="1"/>
        <c:lblAlgn val="ctr"/>
        <c:lblOffset val="100"/>
        <c:noMultiLvlLbl val="1"/>
      </c:catAx>
      <c:valAx>
        <c:axId val="2094734552"/>
        <c:scaling>
          <c:orientation val="minMax"/>
          <c:max val="15"/>
          <c:min val="0"/>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3000">
              <a:solidFill>
                <a:srgbClr val="222222"/>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pieChart>
        <c:varyColors val="1"/>
        <c:ser>
          <c:idx val="0"/>
          <c:order val="0"/>
          <c:tx>
            <c:strRef>
              <c:f>Sheet1!$B$1</c:f>
              <c:strCache>
                <c:ptCount val="1"/>
                <c:pt idx="0">
                  <c:v>Cơ cấu chi phí</c:v>
                </c:pt>
              </c:strCache>
            </c:strRef>
          </c:tx>
          <c:spPr>
            <a:solidFill>
              <a:schemeClr val="accent1"/>
            </a:solidFill>
            <a:ln w="9525" cap="flat">
              <a:solidFill>
                <a:srgbClr val="F9F9F9"/>
              </a:solidFill>
              <a:prstDash val="solid"/>
              <a:round/>
            </a:ln>
            <a:effectLst/>
          </c:spPr>
          <c:dPt>
            <c:idx val="0"/>
            <c:bubble3D val="0"/>
            <c:spPr>
              <a:solidFill>
                <a:srgbClr val="5B3FD0"/>
              </a:solidFill>
              <a:effectLst/>
            </c:spPr>
            <c:extLst>
              <c:ext xmlns:c16="http://schemas.microsoft.com/office/drawing/2014/chart" uri="{C3380CC4-5D6E-409C-BE32-E72D297353CC}">
                <c16:uniqueId val="{00000001-5A08-4949-8064-323C493F03C3}"/>
              </c:ext>
            </c:extLst>
          </c:dPt>
          <c:dPt>
            <c:idx val="1"/>
            <c:bubble3D val="0"/>
            <c:spPr>
              <a:solidFill>
                <a:srgbClr val="F28C28"/>
              </a:solidFill>
              <a:effectLst/>
            </c:spPr>
            <c:extLst>
              <c:ext xmlns:c16="http://schemas.microsoft.com/office/drawing/2014/chart" uri="{C3380CC4-5D6E-409C-BE32-E72D297353CC}">
                <c16:uniqueId val="{00000003-5A08-4949-8064-323C493F03C3}"/>
              </c:ext>
            </c:extLst>
          </c:dPt>
          <c:dPt>
            <c:idx val="2"/>
            <c:bubble3D val="0"/>
            <c:spPr>
              <a:solidFill>
                <a:srgbClr val="8A8FA8"/>
              </a:solidFill>
              <a:effectLst/>
            </c:spPr>
            <c:extLst>
              <c:ext xmlns:c16="http://schemas.microsoft.com/office/drawing/2014/chart" uri="{C3380CC4-5D6E-409C-BE32-E72D297353CC}">
                <c16:uniqueId val="{00000005-5A08-4949-8064-323C493F03C3}"/>
              </c:ext>
            </c:extLst>
          </c:dPt>
          <c:dLbls>
            <c:dLbl>
              <c:idx val="0"/>
              <c:numFmt formatCode="0%" sourceLinked="0"/>
              <c:spPr/>
              <c:txPr>
                <a:bodyPr/>
                <a:lstStyle/>
                <a:p>
                  <a:pPr>
                    <a:defRPr sz="3000" b="0" i="0" u="none" strike="noStrike">
                      <a:solidFill>
                        <a:srgbClr val="FFFFFF"/>
                      </a:solidFill>
                      <a:latin typeface="+mn-lt"/>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1-5A08-4949-8064-323C493F03C3}"/>
                </c:ext>
              </c:extLst>
            </c:dLbl>
            <c:dLbl>
              <c:idx val="1"/>
              <c:numFmt formatCode="0%" sourceLinked="0"/>
              <c:spPr/>
              <c:txPr>
                <a:bodyPr/>
                <a:lstStyle/>
                <a:p>
                  <a:pPr>
                    <a:defRPr sz="3000" b="0" i="0" u="none" strike="noStrike">
                      <a:solidFill>
                        <a:srgbClr val="FFFFFF"/>
                      </a:solidFill>
                      <a:latin typeface="+mn-lt"/>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3-5A08-4949-8064-323C493F03C3}"/>
                </c:ext>
              </c:extLst>
            </c:dLbl>
            <c:dLbl>
              <c:idx val="2"/>
              <c:numFmt formatCode="0%" sourceLinked="0"/>
              <c:spPr/>
              <c:txPr>
                <a:bodyPr/>
                <a:lstStyle/>
                <a:p>
                  <a:pPr>
                    <a:defRPr sz="3000" b="0" i="0" u="none" strike="noStrike">
                      <a:solidFill>
                        <a:srgbClr val="FFFFFF"/>
                      </a:solidFill>
                      <a:latin typeface="+mn-lt"/>
                    </a:defRPr>
                  </a:pPr>
                  <a:endParaRPr lang="en-US"/>
                </a:p>
              </c:txPr>
              <c:showLegendKey val="0"/>
              <c:showVal val="0"/>
              <c:showCatName val="0"/>
              <c:showSerName val="0"/>
              <c:showPercent val="1"/>
              <c:showBubbleSize val="0"/>
              <c:extLst>
                <c:ext xmlns:c15="http://schemas.microsoft.com/office/drawing/2012/chart" uri="{CE6537A1-D6FC-4f65-9D91-7224C49458BB}"/>
                <c:ext xmlns:c16="http://schemas.microsoft.com/office/drawing/2014/chart" uri="{C3380CC4-5D6E-409C-BE32-E72D297353CC}">
                  <c16:uniqueId val="{00000005-5A08-4949-8064-323C493F03C3}"/>
                </c:ext>
              </c:extLst>
            </c:dLbl>
            <c:numFmt formatCode="0%" sourceLinked="0"/>
            <c:spPr>
              <a:noFill/>
              <a:ln>
                <a:noFill/>
              </a:ln>
              <a:effectLst/>
            </c:spPr>
            <c:txPr>
              <a:bodyPr/>
              <a:lstStyle/>
              <a:p>
                <a:pPr>
                  <a:defRPr sz="1800" b="0" i="0" u="none" strike="noStrike">
                    <a:solidFill>
                      <a:srgbClr val="000000"/>
                    </a:solidFill>
                    <a:latin typeface="Arial"/>
                  </a:defRPr>
                </a:pPr>
                <a:endParaRPr lang="en-US"/>
              </a:p>
            </c:txPr>
            <c:dLblPos val="ctr"/>
            <c:showLegendKey val="0"/>
            <c:showVal val="0"/>
            <c:showCatName val="1"/>
            <c:showSerName val="0"/>
            <c:showPercent val="1"/>
            <c:showBubbleSize val="0"/>
            <c:showLeaderLines val="0"/>
            <c:extLst>
              <c:ext xmlns:c15="http://schemas.microsoft.com/office/drawing/2012/chart" uri="{CE6537A1-D6FC-4f65-9D91-7224C49458BB}"/>
            </c:extLst>
          </c:dLbls>
          <c:cat>
            <c:strRef>
              <c:f>Sheet1!$A$2:$A$4</c:f>
              <c:strCache>
                <c:ptCount val="3"/>
                <c:pt idx="0">
                  <c:v>Vận hành</c:v>
                </c:pt>
                <c:pt idx="1">
                  <c:v>Marketing &amp; hoàn tiền</c:v>
                </c:pt>
                <c:pt idx="2">
                  <c:v>Nhân sự &amp; khác</c:v>
                </c:pt>
              </c:strCache>
            </c:strRef>
          </c:cat>
          <c:val>
            <c:numRef>
              <c:f>Sheet1!$B$2:$B$4</c:f>
              <c:numCache>
                <c:formatCode>General</c:formatCode>
                <c:ptCount val="3"/>
                <c:pt idx="0">
                  <c:v>3.5</c:v>
                </c:pt>
                <c:pt idx="1">
                  <c:v>2.6</c:v>
                </c:pt>
                <c:pt idx="2">
                  <c:v>1.18</c:v>
                </c:pt>
              </c:numCache>
            </c:numRef>
          </c:val>
          <c:extLst>
            <c:ext xmlns:c16="http://schemas.microsoft.com/office/drawing/2014/chart" uri="{C3380CC4-5D6E-409C-BE32-E72D297353CC}">
              <c16:uniqueId val="{00000006-5A08-4949-8064-323C493F03C3}"/>
            </c:ext>
          </c:extLst>
        </c:ser>
        <c:dLbls>
          <c:showLegendKey val="0"/>
          <c:showVal val="0"/>
          <c:showCatName val="0"/>
          <c:showSerName val="0"/>
          <c:showPercent val="0"/>
          <c:showBubbleSize val="0"/>
          <c:showLeaderLines val="0"/>
        </c:dLbls>
        <c:firstSliceAng val="0"/>
      </c:pieChart>
      <c:spPr>
        <a:noFill/>
        <a:ln>
          <a:noFill/>
        </a:ln>
        <a:effectLst/>
      </c:spPr>
    </c:plotArea>
    <c:legend>
      <c:legendPos val="r"/>
      <c:overlay val="0"/>
      <c:txPr>
        <a:bodyPr/>
        <a:lstStyle/>
        <a:p>
          <a:pPr>
            <a:defRPr sz="3000">
              <a:solidFill>
                <a:srgbClr val="222222"/>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autoTitleDeleted val="1"/>
    <c:plotArea>
      <c:layout/>
      <c:barChart>
        <c:barDir val="bar"/>
        <c:grouping val="clustered"/>
        <c:varyColors val="0"/>
        <c:ser>
          <c:idx val="0"/>
          <c:order val="0"/>
          <c:tx>
            <c:strRef>
              <c:f>Sheet1!$B$1</c:f>
              <c:strCache>
                <c:ptCount val="1"/>
                <c:pt idx="0">
                  <c:v>Tổng phí</c:v>
                </c:pt>
              </c:strCache>
            </c:strRef>
          </c:tx>
          <c:spPr>
            <a:solidFill>
              <a:srgbClr val="B9BDD6"/>
            </a:solidFill>
            <a:effectLst/>
          </c:spPr>
          <c:invertIfNegative val="0"/>
          <c:dPt>
            <c:idx val="0"/>
            <c:invertIfNegative val="0"/>
            <c:bubble3D val="0"/>
            <c:extLst>
              <c:ext xmlns:c16="http://schemas.microsoft.com/office/drawing/2014/chart" uri="{C3380CC4-5D6E-409C-BE32-E72D297353CC}">
                <c16:uniqueId val="{00000001-0F5C-4768-956F-A69D75590F5E}"/>
              </c:ext>
            </c:extLst>
          </c:dPt>
          <c:dPt>
            <c:idx val="1"/>
            <c:invertIfNegative val="0"/>
            <c:bubble3D val="0"/>
            <c:extLst>
              <c:ext xmlns:c16="http://schemas.microsoft.com/office/drawing/2014/chart" uri="{C3380CC4-5D6E-409C-BE32-E72D297353CC}">
                <c16:uniqueId val="{00000003-0F5C-4768-956F-A69D75590F5E}"/>
              </c:ext>
            </c:extLst>
          </c:dPt>
          <c:dPt>
            <c:idx val="2"/>
            <c:invertIfNegative val="0"/>
            <c:bubble3D val="0"/>
            <c:extLst>
              <c:ext xmlns:c16="http://schemas.microsoft.com/office/drawing/2014/chart" uri="{C3380CC4-5D6E-409C-BE32-E72D297353CC}">
                <c16:uniqueId val="{00000005-0F5C-4768-956F-A69D75590F5E}"/>
              </c:ext>
            </c:extLst>
          </c:dPt>
          <c:dPt>
            <c:idx val="3"/>
            <c:invertIfNegative val="0"/>
            <c:bubble3D val="0"/>
            <c:extLst>
              <c:ext xmlns:c16="http://schemas.microsoft.com/office/drawing/2014/chart" uri="{C3380CC4-5D6E-409C-BE32-E72D297353CC}">
                <c16:uniqueId val="{00000007-0F5C-4768-956F-A69D75590F5E}"/>
              </c:ext>
            </c:extLst>
          </c:dPt>
          <c:dPt>
            <c:idx val="4"/>
            <c:invertIfNegative val="0"/>
            <c:bubble3D val="0"/>
            <c:spPr>
              <a:solidFill>
                <a:srgbClr val="5B3FD0"/>
              </a:solidFill>
              <a:effectLst/>
            </c:spPr>
            <c:extLst>
              <c:ext xmlns:c16="http://schemas.microsoft.com/office/drawing/2014/chart" uri="{C3380CC4-5D6E-409C-BE32-E72D297353CC}">
                <c16:uniqueId val="{00000009-0F5C-4768-956F-A69D75590F5E}"/>
              </c:ext>
            </c:extLst>
          </c:dPt>
          <c:dLbls>
            <c:numFmt formatCode="0.0" sourceLinked="0"/>
            <c:spPr>
              <a:noFill/>
              <a:ln>
                <a:noFill/>
              </a:ln>
              <a:effectLst/>
            </c:spPr>
            <c:txPr>
              <a:bodyPr/>
              <a:lstStyle/>
              <a:p>
                <a:pPr>
                  <a:defRPr sz="3000" b="0" i="0" u="none" strike="noStrike">
                    <a:solidFill>
                      <a:srgbClr val="222222"/>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MB Bank</c:v>
                </c:pt>
                <c:pt idx="1">
                  <c:v>Techcombank</c:v>
                </c:pt>
                <c:pt idx="2">
                  <c:v>VietinBank</c:v>
                </c:pt>
                <c:pt idx="3">
                  <c:v>BIDV</c:v>
                </c:pt>
                <c:pt idx="4">
                  <c:v>Vietcombank</c:v>
                </c:pt>
              </c:strCache>
            </c:strRef>
          </c:cat>
          <c:val>
            <c:numRef>
              <c:f>Sheet1!$B$2:$B$6</c:f>
              <c:numCache>
                <c:formatCode>General</c:formatCode>
                <c:ptCount val="5"/>
                <c:pt idx="0">
                  <c:v>10.61</c:v>
                </c:pt>
                <c:pt idx="1">
                  <c:v>10.87</c:v>
                </c:pt>
                <c:pt idx="2">
                  <c:v>12.78</c:v>
                </c:pt>
                <c:pt idx="3">
                  <c:v>15.6</c:v>
                </c:pt>
                <c:pt idx="4">
                  <c:v>21.29</c:v>
                </c:pt>
              </c:numCache>
            </c:numRef>
          </c:val>
          <c:extLst>
            <c:ext xmlns:c16="http://schemas.microsoft.com/office/drawing/2014/chart" uri="{C3380CC4-5D6E-409C-BE32-E72D297353CC}">
              <c16:uniqueId val="{0000000A-0F5C-4768-956F-A69D75590F5E}"/>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3000" b="0" i="0" u="none" strike="noStrike">
                <a:solidFill>
                  <a:srgbClr val="222222"/>
                </a:solidFill>
                <a:latin typeface="+mn-lt"/>
              </a:defRPr>
            </a:pPr>
            <a:endParaRPr lang="en-US"/>
          </a:p>
        </c:txPr>
        <c:crossAx val="2094734552"/>
        <c:crosses val="autoZero"/>
        <c:auto val="1"/>
        <c:lblAlgn val="ctr"/>
        <c:lblOffset val="100"/>
        <c:noMultiLvlLbl val="1"/>
      </c:catAx>
      <c:valAx>
        <c:axId val="2094734552"/>
        <c:scaling>
          <c:orientation val="minMax"/>
          <c:max val="26"/>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979201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các bạn. Em xin trình bày báo cáo lỗ lãi của ví điện tử PayKX trong tháng 05/2024. Bài gồm 6 slide, mỗi slide chỉ nói một ý chính.</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Doanh thu thuần tháng 5 đạt 12,45 tỷ, tăng 18,6% so với tháng 4 (10,50 tỷ). Nguyên nhân chính là chương trình ưu đãi nạp điện thoại cho sinh viên. Cột cam là tháng đang báo cáo.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Doanh thu tăng 18,6% nhưng chi phí chỉ tăng 12% (từ 6,50 lên 7,28 tỷ). Nhờ vậy lãi gộp tăng từ 4,00 lên 5,17 tỷ.</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chi phí tháng 5 là 7,28 tỷ: vận hành 3,50 tỷ (48%), marketing và hoàn tiền 2,60 tỷ (36%), nhân sự và các khoản khác 1,18 tỷ (16%).</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phí trả cho 10 ngân hàng đối tác là khoảng 103,3 triệu đồng (xem file Excel). Vietcombank cao nhất với 21,29 triệu vì doanh số qua ngân hàng này lớn nhất.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doanh thu 12,45 tỷ, chi phí 7,28 tỷ, lãi gộp 5,17 tỷ. Em đề xuất tiếp tục ưu đãi nạp điện thoại và đàm phán lại mức phí với các ngân hàng có doanh số lớn. Em xin cảm ơn thầy/cô và các bạn đã lắng nghe.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EU_DE">
    <p:bg>
      <p:bgPr>
        <a:solidFill>
          <a:srgbClr val="1F2A5C"/>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10698480" cy="2011680"/>
          </a:xfrm>
          <a:prstGeom prst="rect">
            <a:avLst/>
          </a:prstGeom>
          <a:noFill/>
          <a:ln/>
        </p:spPr>
        <p:txBody>
          <a:bodyPr wrap="square" rtlCol="0"/>
          <a:lstStyle>
            <a:lvl1pPr marL="0" indent="0" algn="l">
              <a:buNone/>
              <a:defRPr lang="en-US" sz="4800" b="1" dirty="0">
                <a:solidFill>
                  <a:srgbClr val="FFFFFF"/>
                </a:solidFill>
              </a:defRPr>
            </a:lvl1pPr>
          </a:lstStyle>
          <a:p>
            <a:pPr marL="0" indent="0" algn="l">
              <a:buNone/>
            </a:pPr>
            <a:endParaRPr lang="en-US" sz="4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I_DUNG">
    <p:bg>
      <p:bgPr>
        <a:solidFill>
          <a:srgbClr val="FFFFFF"/>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371600"/>
          </a:xfrm>
          <a:prstGeom prst="rect">
            <a:avLst/>
          </a:prstGeom>
          <a:noFill/>
          <a:ln/>
        </p:spPr>
        <p:txBody>
          <a:bodyPr wrap="square" rtlCol="0"/>
          <a:lstStyle>
            <a:lvl1pPr marL="0" indent="0" algn="l">
              <a:buNone/>
              <a:defRPr lang="en-US" sz="3600" b="1" dirty="0">
                <a:solidFill>
                  <a:schemeClr val="tx2"/>
                </a:solidFill>
              </a:defRPr>
            </a:lvl1pPr>
          </a:lstStyle>
          <a:p>
            <a:pPr marL="0" indent="0" algn="l">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828800"/>
            <a:ext cx="10698480" cy="2011680"/>
          </a:xfrm>
          <a:prstGeom prst="rect">
            <a:avLst/>
          </a:prstGeom>
          <a:noFill/>
          <a:ln/>
        </p:spPr>
        <p:txBody>
          <a:bodyPr wrap="square" lIns="0" tIns="0" rIns="0" bIns="0" rtlCol="0" anchor="ctr"/>
          <a:lstStyle/>
          <a:p>
            <a:pPr marL="0" indent="0" algn="l">
              <a:buNone/>
            </a:pPr>
            <a:r>
              <a:rPr lang="en-US" sz="4800" b="1" dirty="0">
                <a:solidFill>
                  <a:srgbClr val="FFFFFF"/>
                </a:solidFill>
              </a:rPr>
              <a:t>BÁO CÁO LỖ LÃI PAYKX THÁNG 05/2024</a:t>
            </a:r>
            <a:endParaRPr lang="en-US" sz="4800" dirty="0"/>
          </a:p>
        </p:txBody>
      </p:sp>
      <p:sp>
        <p:nvSpPr>
          <p:cNvPr id="3" name="Phu de"/>
          <p:cNvSpPr txBox="1"/>
          <p:nvPr/>
        </p:nvSpPr>
        <p:spPr>
          <a:xfrm>
            <a:off x="731520" y="3931920"/>
            <a:ext cx="10698480" cy="640080"/>
          </a:xfrm>
          <a:prstGeom prst="rect">
            <a:avLst/>
          </a:prstGeom>
          <a:noFill/>
          <a:ln/>
        </p:spPr>
        <p:txBody>
          <a:bodyPr wrap="square" lIns="0" tIns="0" rIns="0" bIns="0" rtlCol="0" anchor="ctr"/>
          <a:lstStyle/>
          <a:p>
            <a:pPr marL="0" indent="0">
              <a:buNone/>
            </a:pPr>
            <a:r>
              <a:rPr lang="en-US" sz="3200" dirty="0">
                <a:solidFill>
                  <a:srgbClr val="CFC8F5"/>
                </a:solidFill>
              </a:rPr>
              <a:t>Ví điện tử dành cho sinh viên</a:t>
            </a:r>
            <a:endParaRPr lang="en-US" sz="3200" dirty="0"/>
          </a:p>
        </p:txBody>
      </p:sp>
      <p:sp>
        <p:nvSpPr>
          <p:cNvPr id="4" name="Nguoi trinh bay"/>
          <p:cNvSpPr txBox="1"/>
          <p:nvPr/>
        </p:nvSpPr>
        <p:spPr>
          <a:xfrm>
            <a:off x="731520" y="4937760"/>
            <a:ext cx="10698480" cy="640080"/>
          </a:xfrm>
          <a:prstGeom prst="rect">
            <a:avLst/>
          </a:prstGeom>
          <a:noFill/>
          <a:ln/>
        </p:spPr>
        <p:txBody>
          <a:bodyPr wrap="square" lIns="0" tIns="0" rIns="0" bIns="0" rtlCol="0" anchor="ctr"/>
          <a:lstStyle/>
          <a:p>
            <a:pPr marL="0" indent="0">
              <a:buNone/>
            </a:pPr>
            <a:r>
              <a:rPr lang="en-US" sz="3000" dirty="0">
                <a:solidFill>
                  <a:srgbClr val="FFFFFF"/>
                </a:solidFill>
              </a:rPr>
              <a:t>Người trình </a:t>
            </a:r>
            <a:r>
              <a:rPr lang="en-US" sz="3000" dirty="0" err="1">
                <a:solidFill>
                  <a:srgbClr val="FFFFFF"/>
                </a:solidFill>
              </a:rPr>
              <a:t>bày</a:t>
            </a:r>
            <a:r>
              <a:rPr lang="en-US" sz="3000" dirty="0">
                <a:solidFill>
                  <a:srgbClr val="FFFFFF"/>
                </a:solidFill>
              </a:rPr>
              <a:t>: Võ </a:t>
            </a:r>
            <a:r>
              <a:rPr lang="en-US" sz="3000">
                <a:solidFill>
                  <a:srgbClr val="FFFFFF"/>
                </a:solidFill>
              </a:rPr>
              <a:t>Xuân Thịnh</a:t>
            </a:r>
            <a:endParaRPr lang="en-US" sz="3000" dirty="0"/>
          </a:p>
        </p:txBody>
      </p:sp>
      <p:sp>
        <p:nvSpPr>
          <p:cNvPr id="5" name="Hinh tron 1"/>
          <p:cNvSpPr/>
          <p:nvPr/>
        </p:nvSpPr>
        <p:spPr>
          <a:xfrm>
            <a:off x="9692640" y="4754880"/>
            <a:ext cx="3108960" cy="3108960"/>
          </a:xfrm>
          <a:prstGeom prst="ellipse">
            <a:avLst/>
          </a:prstGeom>
          <a:solidFill>
            <a:schemeClr val="accent1">
              <a:alpha val="65000"/>
            </a:schemeClr>
          </a:solidFill>
          <a:ln w="12700">
            <a:solidFill>
              <a:schemeClr val="accent1">
                <a:alpha val="0"/>
              </a:schemeClr>
            </a:solidFill>
            <a:prstDash val="solid"/>
          </a:ln>
        </p:spPr>
      </p:sp>
      <p:sp>
        <p:nvSpPr>
          <p:cNvPr id="6" name="Hinh tron 2"/>
          <p:cNvSpPr/>
          <p:nvPr/>
        </p:nvSpPr>
        <p:spPr>
          <a:xfrm>
            <a:off x="8778240" y="5669280"/>
            <a:ext cx="1645920" cy="1645920"/>
          </a:xfrm>
          <a:prstGeom prst="ellipse">
            <a:avLst/>
          </a:prstGeom>
          <a:solidFill>
            <a:schemeClr val="accent2">
              <a:alpha val="80000"/>
            </a:schemeClr>
          </a:solidFill>
          <a:ln w="12700">
            <a:solidFill>
              <a:schemeClr val="accent2">
                <a:alpha val="0"/>
              </a:scheme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371600"/>
          </a:xfrm>
          <a:prstGeom prst="rect">
            <a:avLst/>
          </a:prstGeom>
          <a:noFill/>
          <a:ln/>
        </p:spPr>
        <p:txBody>
          <a:bodyPr wrap="square" lIns="0" tIns="0" rIns="0" bIns="0" rtlCol="0" anchor="ctr"/>
          <a:lstStyle/>
          <a:p>
            <a:pPr marL="0" indent="0" algn="l">
              <a:buNone/>
            </a:pPr>
            <a:r>
              <a:rPr lang="en-US" sz="3600" b="1" dirty="0">
                <a:solidFill>
                  <a:schemeClr val="tx2"/>
                </a:solidFill>
              </a:rPr>
              <a:t>Doanh thu tháng 5 tăng 18,6% nhờ ưu đãi nạp điện thoại</a:t>
            </a:r>
            <a:endParaRPr lang="en-US" sz="3600" dirty="0"/>
          </a:p>
        </p:txBody>
      </p:sp>
      <p:sp>
        <p:nvSpPr>
          <p:cNvPr id="3" name="Don vi"/>
          <p:cNvSpPr txBox="1"/>
          <p:nvPr/>
        </p:nvSpPr>
        <p:spPr>
          <a:xfrm>
            <a:off x="548640" y="1691640"/>
            <a:ext cx="4572000" cy="548640"/>
          </a:xfrm>
          <a:prstGeom prst="rect">
            <a:avLst/>
          </a:prstGeom>
          <a:noFill/>
          <a:ln/>
        </p:spPr>
        <p:txBody>
          <a:bodyPr wrap="square" lIns="0" tIns="0" rIns="0" bIns="0" rtlCol="0" anchor="ctr"/>
          <a:lstStyle/>
          <a:p>
            <a:pPr marL="0" indent="0">
              <a:buNone/>
            </a:pPr>
            <a:r>
              <a:rPr lang="en-US" sz="3000" dirty="0">
                <a:solidFill>
                  <a:srgbClr val="5A5F7A"/>
                </a:solidFill>
              </a:rPr>
              <a:t>Đơn vị: tỷ VND</a:t>
            </a:r>
            <a:endParaRPr lang="en-US" sz="3000" dirty="0"/>
          </a:p>
        </p:txBody>
      </p:sp>
      <p:graphicFrame>
        <p:nvGraphicFramePr>
          <p:cNvPr id="4" name="Bieu do doanh thu"/>
          <p:cNvGraphicFramePr/>
          <p:nvPr/>
        </p:nvGraphicFramePr>
        <p:xfrm>
          <a:off x="548640" y="2194560"/>
          <a:ext cx="11064240" cy="44805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371600"/>
          </a:xfrm>
          <a:prstGeom prst="rect">
            <a:avLst/>
          </a:prstGeom>
          <a:noFill/>
          <a:ln/>
        </p:spPr>
        <p:txBody>
          <a:bodyPr wrap="square" lIns="0" tIns="0" rIns="0" bIns="0" rtlCol="0" anchor="ctr"/>
          <a:lstStyle/>
          <a:p>
            <a:pPr marL="0" indent="0" algn="l">
              <a:buNone/>
            </a:pPr>
            <a:r>
              <a:rPr lang="en-US" sz="3600" b="1" dirty="0">
                <a:solidFill>
                  <a:schemeClr val="tx2"/>
                </a:solidFill>
              </a:rPr>
              <a:t>Chi phí chỉ tăng 12% trong khi doanh thu tăng 18,6%</a:t>
            </a:r>
            <a:endParaRPr lang="en-US" sz="3600" dirty="0"/>
          </a:p>
        </p:txBody>
      </p:sp>
      <p:sp>
        <p:nvSpPr>
          <p:cNvPr id="3" name="Don vi"/>
          <p:cNvSpPr txBox="1"/>
          <p:nvPr/>
        </p:nvSpPr>
        <p:spPr>
          <a:xfrm>
            <a:off x="548640" y="1691640"/>
            <a:ext cx="4572000" cy="548640"/>
          </a:xfrm>
          <a:prstGeom prst="rect">
            <a:avLst/>
          </a:prstGeom>
          <a:noFill/>
          <a:ln/>
        </p:spPr>
        <p:txBody>
          <a:bodyPr wrap="square" lIns="0" tIns="0" rIns="0" bIns="0" rtlCol="0" anchor="ctr"/>
          <a:lstStyle/>
          <a:p>
            <a:pPr marL="0" indent="0">
              <a:buNone/>
            </a:pPr>
            <a:r>
              <a:rPr lang="en-US" sz="3000" dirty="0">
                <a:solidFill>
                  <a:srgbClr val="5A5F7A"/>
                </a:solidFill>
              </a:rPr>
              <a:t>Đơn vị: tỷ VND</a:t>
            </a:r>
            <a:endParaRPr lang="en-US" sz="3000" dirty="0"/>
          </a:p>
        </p:txBody>
      </p:sp>
      <p:graphicFrame>
        <p:nvGraphicFramePr>
          <p:cNvPr id="4" name="Bieu do so sanh"/>
          <p:cNvGraphicFramePr/>
          <p:nvPr/>
        </p:nvGraphicFramePr>
        <p:xfrm>
          <a:off x="548640" y="2194560"/>
          <a:ext cx="11064240" cy="44805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371600"/>
          </a:xfrm>
          <a:prstGeom prst="rect">
            <a:avLst/>
          </a:prstGeom>
          <a:noFill/>
          <a:ln/>
        </p:spPr>
        <p:txBody>
          <a:bodyPr wrap="square" lIns="0" tIns="0" rIns="0" bIns="0" rtlCol="0" anchor="ctr"/>
          <a:lstStyle/>
          <a:p>
            <a:pPr marL="0" indent="0" algn="l">
              <a:buNone/>
            </a:pPr>
            <a:r>
              <a:rPr lang="en-US" sz="3600" b="1" dirty="0">
                <a:solidFill>
                  <a:schemeClr val="tx2"/>
                </a:solidFill>
              </a:rPr>
              <a:t>Vận hành và marketing chiếm gần 84% tổng chi phí</a:t>
            </a:r>
            <a:endParaRPr lang="en-US" sz="3600" dirty="0"/>
          </a:p>
        </p:txBody>
      </p:sp>
      <p:graphicFrame>
        <p:nvGraphicFramePr>
          <p:cNvPr id="3" name="Bieu do co cau chi phi"/>
          <p:cNvGraphicFramePr/>
          <p:nvPr/>
        </p:nvGraphicFramePr>
        <p:xfrm>
          <a:off x="548640" y="1828800"/>
          <a:ext cx="11064240" cy="484632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371600"/>
          </a:xfrm>
          <a:prstGeom prst="rect">
            <a:avLst/>
          </a:prstGeom>
          <a:noFill/>
          <a:ln/>
        </p:spPr>
        <p:txBody>
          <a:bodyPr wrap="square" lIns="0" tIns="0" rIns="0" bIns="0" rtlCol="0" anchor="ctr"/>
          <a:lstStyle/>
          <a:p>
            <a:pPr marL="0" indent="0" algn="l">
              <a:buNone/>
            </a:pPr>
            <a:r>
              <a:rPr lang="en-US" sz="3600" b="1" dirty="0">
                <a:solidFill>
                  <a:schemeClr val="tx2"/>
                </a:solidFill>
              </a:rPr>
              <a:t>Vietcombank chiếm 20,6% tổng phí trả cho ngân hàng</a:t>
            </a:r>
            <a:endParaRPr lang="en-US" sz="3600" dirty="0"/>
          </a:p>
        </p:txBody>
      </p:sp>
      <p:sp>
        <p:nvSpPr>
          <p:cNvPr id="3" name="Don vi"/>
          <p:cNvSpPr txBox="1"/>
          <p:nvPr/>
        </p:nvSpPr>
        <p:spPr>
          <a:xfrm>
            <a:off x="548640" y="1691640"/>
            <a:ext cx="8229600" cy="548640"/>
          </a:xfrm>
          <a:prstGeom prst="rect">
            <a:avLst/>
          </a:prstGeom>
          <a:noFill/>
          <a:ln/>
        </p:spPr>
        <p:txBody>
          <a:bodyPr wrap="square" lIns="0" tIns="0" rIns="0" bIns="0" rtlCol="0" anchor="ctr"/>
          <a:lstStyle/>
          <a:p>
            <a:pPr marL="0" indent="0">
              <a:buNone/>
            </a:pPr>
            <a:r>
              <a:rPr lang="en-US" sz="3000" dirty="0">
                <a:solidFill>
                  <a:srgbClr val="5A5F7A"/>
                </a:solidFill>
              </a:rPr>
              <a:t>Top 5 ngân hàng - Đơn vị: triệu VND</a:t>
            </a:r>
            <a:endParaRPr lang="en-US" sz="3000" dirty="0"/>
          </a:p>
        </p:txBody>
      </p:sp>
      <p:graphicFrame>
        <p:nvGraphicFramePr>
          <p:cNvPr id="4" name="Bieu do phi ngan hang"/>
          <p:cNvGraphicFramePr/>
          <p:nvPr/>
        </p:nvGraphicFramePr>
        <p:xfrm>
          <a:off x="548640" y="2194560"/>
          <a:ext cx="11064240" cy="44805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20040"/>
            <a:ext cx="11064240" cy="1371600"/>
          </a:xfrm>
          <a:prstGeom prst="rect">
            <a:avLst/>
          </a:prstGeom>
          <a:noFill/>
          <a:ln/>
        </p:spPr>
        <p:txBody>
          <a:bodyPr wrap="square" lIns="0" tIns="0" rIns="0" bIns="0" rtlCol="0" anchor="ctr"/>
          <a:lstStyle/>
          <a:p>
            <a:pPr marL="0" indent="0" algn="l">
              <a:buNone/>
            </a:pPr>
            <a:r>
              <a:rPr lang="en-US" sz="3600" b="1" dirty="0">
                <a:solidFill>
                  <a:schemeClr val="tx2"/>
                </a:solidFill>
              </a:rPr>
              <a:t>Lãi gộp tháng 5 đạt 5,17 tỷ, tăng 29,3% so với tháng 4</a:t>
            </a:r>
            <a:endParaRPr lang="en-US" sz="3600" dirty="0"/>
          </a:p>
        </p:txBody>
      </p:sp>
      <p:sp>
        <p:nvSpPr>
          <p:cNvPr id="3" name="The 1"/>
          <p:cNvSpPr/>
          <p:nvPr/>
        </p:nvSpPr>
        <p:spPr>
          <a:xfrm>
            <a:off x="548640" y="1920240"/>
            <a:ext cx="3566160" cy="2286000"/>
          </a:xfrm>
          <a:prstGeom prst="roundRect">
            <a:avLst>
              <a:gd name="adj" fmla="val 6000"/>
            </a:avLst>
          </a:prstGeom>
          <a:solidFill>
            <a:schemeClr val="bg2"/>
          </a:solidFill>
          <a:ln w="12700">
            <a:solidFill>
              <a:schemeClr val="bg2"/>
            </a:solidFill>
            <a:prstDash val="solid"/>
          </a:ln>
        </p:spPr>
      </p:sp>
      <p:sp>
        <p:nvSpPr>
          <p:cNvPr id="4" name="So 1"/>
          <p:cNvSpPr txBox="1"/>
          <p:nvPr/>
        </p:nvSpPr>
        <p:spPr>
          <a:xfrm>
            <a:off x="548640" y="2103120"/>
            <a:ext cx="3566160" cy="1097280"/>
          </a:xfrm>
          <a:prstGeom prst="rect">
            <a:avLst/>
          </a:prstGeom>
          <a:noFill/>
          <a:ln/>
        </p:spPr>
        <p:txBody>
          <a:bodyPr wrap="square" lIns="0" tIns="0" rIns="0" bIns="0" rtlCol="0" anchor="ctr"/>
          <a:lstStyle/>
          <a:p>
            <a:pPr marL="0" indent="0" algn="ctr">
              <a:buNone/>
            </a:pPr>
            <a:r>
              <a:rPr lang="en-US" sz="4800" b="1" dirty="0">
                <a:solidFill>
                  <a:srgbClr val="5B3FD0"/>
                </a:solidFill>
              </a:rPr>
              <a:t>12,45 tỷ</a:t>
            </a:r>
            <a:endParaRPr lang="en-US" sz="4800" dirty="0"/>
          </a:p>
        </p:txBody>
      </p:sp>
      <p:sp>
        <p:nvSpPr>
          <p:cNvPr id="5" name="Nhan 1"/>
          <p:cNvSpPr txBox="1"/>
          <p:nvPr/>
        </p:nvSpPr>
        <p:spPr>
          <a:xfrm>
            <a:off x="548640" y="3200400"/>
            <a:ext cx="3566160" cy="731520"/>
          </a:xfrm>
          <a:prstGeom prst="rect">
            <a:avLst/>
          </a:prstGeom>
          <a:noFill/>
          <a:ln/>
        </p:spPr>
        <p:txBody>
          <a:bodyPr wrap="square" lIns="0" tIns="0" rIns="0" bIns="0" rtlCol="0" anchor="ctr"/>
          <a:lstStyle/>
          <a:p>
            <a:pPr marL="0" indent="0" algn="ctr">
              <a:buNone/>
            </a:pPr>
            <a:r>
              <a:rPr lang="en-US" sz="3000" dirty="0">
                <a:solidFill>
                  <a:srgbClr val="222222"/>
                </a:solidFill>
              </a:rPr>
              <a:t>Doanh thu</a:t>
            </a:r>
            <a:endParaRPr lang="en-US" sz="3000" dirty="0"/>
          </a:p>
        </p:txBody>
      </p:sp>
      <p:sp>
        <p:nvSpPr>
          <p:cNvPr id="6" name="The 2"/>
          <p:cNvSpPr/>
          <p:nvPr/>
        </p:nvSpPr>
        <p:spPr>
          <a:xfrm>
            <a:off x="4297680" y="1920240"/>
            <a:ext cx="3566160" cy="2286000"/>
          </a:xfrm>
          <a:prstGeom prst="roundRect">
            <a:avLst>
              <a:gd name="adj" fmla="val 6000"/>
            </a:avLst>
          </a:prstGeom>
          <a:solidFill>
            <a:schemeClr val="bg2"/>
          </a:solidFill>
          <a:ln w="12700">
            <a:solidFill>
              <a:schemeClr val="bg2"/>
            </a:solidFill>
            <a:prstDash val="solid"/>
          </a:ln>
        </p:spPr>
      </p:sp>
      <p:sp>
        <p:nvSpPr>
          <p:cNvPr id="7" name="So 2"/>
          <p:cNvSpPr txBox="1"/>
          <p:nvPr/>
        </p:nvSpPr>
        <p:spPr>
          <a:xfrm>
            <a:off x="4297680" y="2103120"/>
            <a:ext cx="3566160" cy="1097280"/>
          </a:xfrm>
          <a:prstGeom prst="rect">
            <a:avLst/>
          </a:prstGeom>
          <a:noFill/>
          <a:ln/>
        </p:spPr>
        <p:txBody>
          <a:bodyPr wrap="square" lIns="0" tIns="0" rIns="0" bIns="0" rtlCol="0" anchor="ctr"/>
          <a:lstStyle/>
          <a:p>
            <a:pPr marL="0" indent="0" algn="ctr">
              <a:buNone/>
            </a:pPr>
            <a:r>
              <a:rPr lang="en-US" sz="4800" b="1" dirty="0">
                <a:solidFill>
                  <a:srgbClr val="F28C28"/>
                </a:solidFill>
              </a:rPr>
              <a:t>7,28 tỷ</a:t>
            </a:r>
            <a:endParaRPr lang="en-US" sz="4800" dirty="0"/>
          </a:p>
        </p:txBody>
      </p:sp>
      <p:sp>
        <p:nvSpPr>
          <p:cNvPr id="8" name="Nhan 2"/>
          <p:cNvSpPr txBox="1"/>
          <p:nvPr/>
        </p:nvSpPr>
        <p:spPr>
          <a:xfrm>
            <a:off x="4297680" y="3200400"/>
            <a:ext cx="3566160" cy="731520"/>
          </a:xfrm>
          <a:prstGeom prst="rect">
            <a:avLst/>
          </a:prstGeom>
          <a:noFill/>
          <a:ln/>
        </p:spPr>
        <p:txBody>
          <a:bodyPr wrap="square" lIns="0" tIns="0" rIns="0" bIns="0" rtlCol="0" anchor="ctr"/>
          <a:lstStyle/>
          <a:p>
            <a:pPr marL="0" indent="0" algn="ctr">
              <a:buNone/>
            </a:pPr>
            <a:r>
              <a:rPr lang="en-US" sz="3000" dirty="0">
                <a:solidFill>
                  <a:srgbClr val="222222"/>
                </a:solidFill>
              </a:rPr>
              <a:t>Chi phí</a:t>
            </a:r>
            <a:endParaRPr lang="en-US" sz="3000" dirty="0"/>
          </a:p>
        </p:txBody>
      </p:sp>
      <p:sp>
        <p:nvSpPr>
          <p:cNvPr id="9" name="The 3"/>
          <p:cNvSpPr/>
          <p:nvPr/>
        </p:nvSpPr>
        <p:spPr>
          <a:xfrm>
            <a:off x="8046720" y="1920240"/>
            <a:ext cx="3566160" cy="2286000"/>
          </a:xfrm>
          <a:prstGeom prst="roundRect">
            <a:avLst>
              <a:gd name="adj" fmla="val 6000"/>
            </a:avLst>
          </a:prstGeom>
          <a:solidFill>
            <a:schemeClr val="bg2"/>
          </a:solidFill>
          <a:ln w="12700">
            <a:solidFill>
              <a:schemeClr val="bg2"/>
            </a:solidFill>
            <a:prstDash val="solid"/>
          </a:ln>
        </p:spPr>
      </p:sp>
      <p:sp>
        <p:nvSpPr>
          <p:cNvPr id="10" name="So 3"/>
          <p:cNvSpPr txBox="1"/>
          <p:nvPr/>
        </p:nvSpPr>
        <p:spPr>
          <a:xfrm>
            <a:off x="8046720" y="2103120"/>
            <a:ext cx="3566160" cy="1097280"/>
          </a:xfrm>
          <a:prstGeom prst="rect">
            <a:avLst/>
          </a:prstGeom>
          <a:noFill/>
          <a:ln/>
        </p:spPr>
        <p:txBody>
          <a:bodyPr wrap="square" lIns="0" tIns="0" rIns="0" bIns="0" rtlCol="0" anchor="ctr"/>
          <a:lstStyle/>
          <a:p>
            <a:pPr marL="0" indent="0" algn="ctr">
              <a:buNone/>
            </a:pPr>
            <a:r>
              <a:rPr lang="en-US" sz="4800" b="1" dirty="0">
                <a:solidFill>
                  <a:srgbClr val="2E9E6B"/>
                </a:solidFill>
              </a:rPr>
              <a:t>5,17 tỷ</a:t>
            </a:r>
            <a:endParaRPr lang="en-US" sz="4800" dirty="0"/>
          </a:p>
        </p:txBody>
      </p:sp>
      <p:sp>
        <p:nvSpPr>
          <p:cNvPr id="11" name="Nhan 3"/>
          <p:cNvSpPr txBox="1"/>
          <p:nvPr/>
        </p:nvSpPr>
        <p:spPr>
          <a:xfrm>
            <a:off x="8046720" y="3200400"/>
            <a:ext cx="3566160" cy="731520"/>
          </a:xfrm>
          <a:prstGeom prst="rect">
            <a:avLst/>
          </a:prstGeom>
          <a:noFill/>
          <a:ln/>
        </p:spPr>
        <p:txBody>
          <a:bodyPr wrap="square" lIns="0" tIns="0" rIns="0" bIns="0" rtlCol="0" anchor="ctr"/>
          <a:lstStyle/>
          <a:p>
            <a:pPr marL="0" indent="0" algn="ctr">
              <a:buNone/>
            </a:pPr>
            <a:r>
              <a:rPr lang="en-US" sz="3000" dirty="0">
                <a:solidFill>
                  <a:srgbClr val="222222"/>
                </a:solidFill>
              </a:rPr>
              <a:t>Lãi gộp</a:t>
            </a:r>
            <a:endParaRPr lang="en-US" sz="3000" dirty="0"/>
          </a:p>
        </p:txBody>
      </p:sp>
      <p:sp>
        <p:nvSpPr>
          <p:cNvPr id="12" name="Viec can lam"/>
          <p:cNvSpPr txBox="1"/>
          <p:nvPr/>
        </p:nvSpPr>
        <p:spPr>
          <a:xfrm>
            <a:off x="548640" y="4526280"/>
            <a:ext cx="11064240" cy="1828800"/>
          </a:xfrm>
          <a:prstGeom prst="rect">
            <a:avLst/>
          </a:prstGeom>
          <a:noFill/>
          <a:ln/>
        </p:spPr>
        <p:txBody>
          <a:bodyPr wrap="square" lIns="0" tIns="0" rIns="0" bIns="0" rtlCol="0" anchor="t"/>
          <a:lstStyle/>
          <a:p>
            <a:pPr marL="342900" indent="-342900">
              <a:spcAft>
                <a:spcPts val="800"/>
              </a:spcAft>
              <a:buSzPct val="100000"/>
              <a:buChar char="•"/>
            </a:pPr>
            <a:r>
              <a:rPr lang="en-US" sz="3200" dirty="0">
                <a:solidFill>
                  <a:srgbClr val="222222"/>
                </a:solidFill>
              </a:rPr>
              <a:t>Giữ ưu đãi nạp điện thoại</a:t>
            </a:r>
            <a:endParaRPr lang="en-US" sz="3200" dirty="0"/>
          </a:p>
          <a:p>
            <a:pPr marL="342900" indent="-342900">
              <a:spcAft>
                <a:spcPts val="800"/>
              </a:spcAft>
              <a:buSzPct val="100000"/>
              <a:buChar char="•"/>
            </a:pPr>
            <a:r>
              <a:rPr lang="en-US" sz="3200" dirty="0">
                <a:solidFill>
                  <a:srgbClr val="222222"/>
                </a:solidFill>
              </a:rPr>
              <a:t>Đàm phán lại phí với ngân hàng lớn</a:t>
            </a:r>
            <a:endParaRPr lang="en-US" sz="3200" dirty="0"/>
          </a:p>
        </p:txBody>
      </p:sp>
    </p:spTree>
  </p:cSld>
  <p:clrMapOvr>
    <a:masterClrMapping/>
  </p:clrMapOvr>
</p:sld>
</file>

<file path=ppt/theme/theme1.xml><?xml version="1.0" encoding="utf-8"?>
<a:theme xmlns:a="http://schemas.openxmlformats.org/drawingml/2006/main" name="PayKX">
  <a:themeElements>
    <a:clrScheme name="PayKX">
      <a:dk1>
        <a:srgbClr val="222222"/>
      </a:dk1>
      <a:lt1>
        <a:srgbClr val="FFFFFF"/>
      </a:lt1>
      <a:dk2>
        <a:srgbClr val="1F2A5C"/>
      </a:dk2>
      <a:lt2>
        <a:srgbClr val="EEF0FA"/>
      </a:lt2>
      <a:accent1>
        <a:srgbClr val="5B3FD0"/>
      </a:accent1>
      <a:accent2>
        <a:srgbClr val="F28C28"/>
      </a:accent2>
      <a:accent3>
        <a:srgbClr val="2E9E6B"/>
      </a:accent3>
      <a:accent4>
        <a:srgbClr val="2E6BD0"/>
      </a:accent4>
      <a:accent5>
        <a:srgbClr val="D64545"/>
      </a:accent5>
      <a:accent6>
        <a:srgbClr val="8A8FA8"/>
      </a:accent6>
      <a:hlink>
        <a:srgbClr val="2E6BD0"/>
      </a:hlink>
      <a:folHlink>
        <a:srgbClr val="8A8FA8"/>
      </a:folHlink>
    </a:clrScheme>
    <a:fontScheme name="PayKX">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374</Words>
  <Application>Microsoft Office PowerPoint</Application>
  <PresentationFormat>Widescreen</PresentationFormat>
  <Paragraphs>31</Paragraphs>
  <Slides>6</Slides>
  <Notes>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6</vt:i4>
      </vt:variant>
    </vt:vector>
  </HeadingPairs>
  <TitlesOfParts>
    <vt:vector size="8" baseType="lpstr">
      <vt:lpstr>Arial</vt:lpstr>
      <vt:lpstr>PayKX</vt:lpstr>
      <vt:lpstr>BÁO CÁO LỖ LÃI PAYKX THÁNG 05/2024</vt:lpstr>
      <vt:lpstr>Doanh thu tháng 5 tăng 18,6% nhờ ưu đãi nạp điện thoại</vt:lpstr>
      <vt:lpstr>Chi phí chỉ tăng 12% trong khi doanh thu tăng 18,6%</vt:lpstr>
      <vt:lpstr>Vận hành và marketing chiếm gần 84% tổng chi phí</vt:lpstr>
      <vt:lpstr>Vietcombank chiếm 20,6% tổng phí trả cho ngân hàng</vt:lpstr>
      <vt:lpstr>Lãi gộp tháng 5 đạt 5,17 tỷ, tăng 29,3% so với tháng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Báo cáo lỗ lãi PayKX tháng 05/2024</dc:title>
  <dc:subject>PptxGenJS Presentation</dc:subject>
  <dc:creator>Nhóm PayKX</dc:creator>
  <cp:lastModifiedBy>Thịnh Võ Xuân</cp:lastModifiedBy>
  <cp:revision>2</cp:revision>
  <dcterms:created xsi:type="dcterms:W3CDTF">2026-10-26T16:27:13Z</dcterms:created>
  <dcterms:modified xsi:type="dcterms:W3CDTF">2026-10-26T16:55:47Z</dcterms:modified>
</cp:coreProperties>
</file>